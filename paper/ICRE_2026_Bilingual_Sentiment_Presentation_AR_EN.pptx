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01ff5641c64876" /><Relationship Type="http://schemas.openxmlformats.org/officeDocument/2006/relationships/extended-properties" Target="/docProps/app.xml" Id="R545475225bba4a41" /><Relationship Type="http://schemas.openxmlformats.org/officeDocument/2006/relationships/officeDocument" Target="/ppt/presentation.xml" Id="Rd2918c6fc98043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f8f94bbcd64205"/>
  </p:sldMasterIdLst>
  <p:notesMasterIdLst>
    <p:notesMasterId xmlns:r="http://schemas.openxmlformats.org/officeDocument/2006/relationships" r:id="R0da8c42255da4339"/>
  </p:notesMasterIdLst>
  <p:sldIdLst>
    <p:sldId xmlns:r="http://schemas.openxmlformats.org/officeDocument/2006/relationships" id="256" r:id="R47c9c71410984a6b"/>
    <p:sldId xmlns:r="http://schemas.openxmlformats.org/officeDocument/2006/relationships" id="257" r:id="R413599822e854421"/>
    <p:sldId xmlns:r="http://schemas.openxmlformats.org/officeDocument/2006/relationships" id="258" r:id="Rea214380c65f4b53"/>
    <p:sldId xmlns:r="http://schemas.openxmlformats.org/officeDocument/2006/relationships" id="259" r:id="Rb8ff31ac7a584c9a"/>
    <p:sldId xmlns:r="http://schemas.openxmlformats.org/officeDocument/2006/relationships" id="260" r:id="R8df82b9e93174848"/>
    <p:sldId xmlns:r="http://schemas.openxmlformats.org/officeDocument/2006/relationships" id="261" r:id="R70449c8450c14b31"/>
    <p:sldId xmlns:r="http://schemas.openxmlformats.org/officeDocument/2006/relationships" id="262" r:id="R5173a65f9c4e4749"/>
    <p:sldId xmlns:r="http://schemas.openxmlformats.org/officeDocument/2006/relationships" id="263" r:id="R95bb8f5fe00d4c96"/>
    <p:sldId xmlns:r="http://schemas.openxmlformats.org/officeDocument/2006/relationships" id="264" r:id="R53aadd552c5d40ca"/>
    <p:sldId xmlns:r="http://schemas.openxmlformats.org/officeDocument/2006/relationships" id="265" r:id="R465c365fe55d40ae"/>
    <p:sldId xmlns:r="http://schemas.openxmlformats.org/officeDocument/2006/relationships" id="266" r:id="Re076c5512dee4602"/>
    <p:sldId xmlns:r="http://schemas.openxmlformats.org/officeDocument/2006/relationships" id="267" r:id="R2c308544d0634a1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c06c33c1444943" /><Relationship Type="http://schemas.openxmlformats.org/officeDocument/2006/relationships/slideMaster" Target="/ppt/slideMasters/slideMaster1.xml" Id="Rfef8f94bbcd64205" /><Relationship Type="http://schemas.openxmlformats.org/officeDocument/2006/relationships/notesMaster" Target="/ppt/notesMasters/notesMaster1.xml" Id="R0da8c42255da4339" /><Relationship Type="http://schemas.openxmlformats.org/officeDocument/2006/relationships/presProps" Target="/ppt/presProps.xml" Id="R0299e7a0505c4aff" /><Relationship Type="http://schemas.openxmlformats.org/officeDocument/2006/relationships/tableStyles" Target="/ppt/tableStyles.xml" Id="R1332f1742ab6491a" /><Relationship Type="http://schemas.openxmlformats.org/officeDocument/2006/relationships/slide" Target="/ppt/slides/slide1.xml" Id="R47c9c71410984a6b" /><Relationship Type="http://schemas.openxmlformats.org/officeDocument/2006/relationships/slide" Target="/ppt/slides/slide2.xml" Id="R413599822e854421" /><Relationship Type="http://schemas.openxmlformats.org/officeDocument/2006/relationships/slide" Target="/ppt/slides/slide3.xml" Id="Rea214380c65f4b53" /><Relationship Type="http://schemas.openxmlformats.org/officeDocument/2006/relationships/slide" Target="/ppt/slides/slide4.xml" Id="Rb8ff31ac7a584c9a" /><Relationship Type="http://schemas.openxmlformats.org/officeDocument/2006/relationships/slide" Target="/ppt/slides/slide5.xml" Id="R8df82b9e93174848" /><Relationship Type="http://schemas.openxmlformats.org/officeDocument/2006/relationships/slide" Target="/ppt/slides/slide6.xml" Id="R70449c8450c14b31" /><Relationship Type="http://schemas.openxmlformats.org/officeDocument/2006/relationships/slide" Target="/ppt/slides/slide7.xml" Id="R5173a65f9c4e4749" /><Relationship Type="http://schemas.openxmlformats.org/officeDocument/2006/relationships/slide" Target="/ppt/slides/slide8.xml" Id="R95bb8f5fe00d4c96" /><Relationship Type="http://schemas.openxmlformats.org/officeDocument/2006/relationships/slide" Target="/ppt/slides/slide9.xml" Id="R53aadd552c5d40ca" /><Relationship Type="http://schemas.openxmlformats.org/officeDocument/2006/relationships/slide" Target="/ppt/slides/slide10.xml" Id="R465c365fe55d40ae" /><Relationship Type="http://schemas.openxmlformats.org/officeDocument/2006/relationships/slide" Target="/ppt/slides/slide11.xml" Id="Re076c5512dee4602" /><Relationship Type="http://schemas.openxmlformats.org/officeDocument/2006/relationships/slide" Target="/ppt/slides/slide12.xml" Id="R2c308544d0634a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9e61f0765740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7e63af71bc4e70" /><Relationship Type="http://schemas.openxmlformats.org/officeDocument/2006/relationships/notesMaster" Target="/ppt/notesMasters/notesMaster1.xml" Id="Rbb26c13a07304d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d784f7502549df" /><Relationship Type="http://schemas.openxmlformats.org/officeDocument/2006/relationships/notesMaster" Target="/ppt/notesMasters/notesMaster1.xml" Id="R75bc1ef965c44e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6a24c7e131452c" /><Relationship Type="http://schemas.openxmlformats.org/officeDocument/2006/relationships/notesMaster" Target="/ppt/notesMasters/notesMaster1.xml" Id="Rc76743e00dbe4b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1b5df9a7e64113" /><Relationship Type="http://schemas.openxmlformats.org/officeDocument/2006/relationships/notesMaster" Target="/ppt/notesMasters/notesMaster1.xml" Id="R361cef3375e94e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cd61f688db4955" /><Relationship Type="http://schemas.openxmlformats.org/officeDocument/2006/relationships/notesMaster" Target="/ppt/notesMasters/notesMaster1.xml" Id="R66ff13e58fa544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0647523ab848cb" /><Relationship Type="http://schemas.openxmlformats.org/officeDocument/2006/relationships/notesMaster" Target="/ppt/notesMasters/notesMaster1.xml" Id="R9b45f2124dec4de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a633215c284a88" /><Relationship Type="http://schemas.openxmlformats.org/officeDocument/2006/relationships/notesMaster" Target="/ppt/notesMasters/notesMaster1.xml" Id="R5ea2f34dcb10492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848ebb4f9784d19" /><Relationship Type="http://schemas.openxmlformats.org/officeDocument/2006/relationships/notesMaster" Target="/ppt/notesMasters/notesMaster1.xml" Id="R4ceb4a32c4ac47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98456e3dfeb4c52" /><Relationship Type="http://schemas.openxmlformats.org/officeDocument/2006/relationships/notesMaster" Target="/ppt/notesMasters/notesMaster1.xml" Id="Rdb93da00c0a0486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dd24255faf4481c" /><Relationship Type="http://schemas.openxmlformats.org/officeDocument/2006/relationships/notesMaster" Target="/ppt/notesMasters/notesMaster1.xml" Id="Re3b7d1b3e675482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a76d4d2926c4038" /><Relationship Type="http://schemas.openxmlformats.org/officeDocument/2006/relationships/notesMaster" Target="/ppt/notesMasters/notesMaster1.xml" Id="Rd1414513698c4bf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3e64720aa6d400c" /><Relationship Type="http://schemas.openxmlformats.org/officeDocument/2006/relationships/notesMaster" Target="/ppt/notesMasters/notesMaster1.xml" Id="R1a6d2522703244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ابدأ بتعريف المشروع: بنينا نظاماً عملياً يصنّف النص العربي أو الإنجليزي إلى إيجابي أو سلبي، ويعرض نتيجة غير مؤكدة عند انخفاض الثقة. أكّد أن الورقة البحثية والنتائج مأخوذة من تشغيل فعلي للنظام.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/workspace/scratch/6e5240c81744/work/Bilingual_Sentiment_AI_Project/README.md</a:t>
            </a:r>
          </a:p>
          <a:p xmlns:a="http://schemas.openxmlformats.org/drawingml/2006/main">
            <a:r>
              <a:t>- /workspace/scratch/6e5240c81744/work/Bilingual_Sentiment_AI_Project/paper/ICRE_2026_Final_Bilingual_Sentiment_Paper.pdf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اشرح المشكلة أولاً: المراجعات تأتي كنصوص حرة وبأكثر من لغة. هدفنا ليس بناء نموذج ضخم، بل خط أساس بسيط وقابل للتكرار يستطيع الفريق تشغيله وشرح قراراته.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/workspace/scratch/6e5240c81744/work/Bilingual_Sentiment_AI_Project/docs/PROJECT_REPORT_BILINGUAL.md</a:t>
            </a:r>
          </a:p>
          <a:p xmlns:a="http://schemas.openxmlformats.org/drawingml/2006/main">
            <a:r>
              <a:t>- /workspace/scratch/6e5240c81744/work/Bilingual_Sentiment_AI_Project/web_app.py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اذكر عدد السجلات ومصادرها. وضّح الفرق المهم: الإنجليزية جمل مراجعات حقيقية، بينما العربية مصطلحات وعبارات من معجم مترجم. هذه النقطة تفسر لاحقاً اختلاف الأداء وتحافظ على الأمانة العلمية.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UCI Sentiment Labelled Sentences: https://archive.ics.uci.edu/dataset/331/sentiment+labelled+sentences</a:t>
            </a:r>
          </a:p>
          <a:p xmlns:a="http://schemas.openxmlformats.org/drawingml/2006/main">
            <a:r>
              <a:t>- Translated AFINN component: https://github.com/marcellobarile/multilang-sentiment</a:t>
            </a:r>
          </a:p>
          <a:p xmlns:a="http://schemas.openxmlformats.org/drawingml/2006/main">
            <a:r>
              <a:t>- /workspace/scratch/6e5240c81744/work/Bilingual_Sentiment_AI_Project/data/processed/dataset_summary.json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مرّ على المراحل من اليسار إلى اليمين: ندخل المراجعة، ننظف Unicode والعربية، نحول النص إلى سمات TF-IDF على مستوى الأحرف، ثم يختار النموذج الفئة. إذا كانت أعلى احتمالية أقل من 0.60 نعرض غير مؤكد.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/workspace/scratch/6e5240c81744/work/Bilingual_Sentiment_AI_Project/results/system_architecture.png</a:t>
            </a:r>
          </a:p>
          <a:p xmlns:a="http://schemas.openxmlformats.org/drawingml/2006/main">
            <a:r>
              <a:t>- /workspace/scratch/6e5240c81744/work/Bilingual_Sentiment_AI_Project/src/text_utils.py</a:t>
            </a:r>
          </a:p>
          <a:p xmlns:a="http://schemas.openxmlformats.org/drawingml/2006/main">
            <a:r>
              <a:t>- /workspace/scratch/6e5240c81744/work/Bilingual_Sentiment_AI_Project/results/metrics.json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اعرض مثالاً قبل وبعد المعالجة. في العربية نزيل التشكيل والتطويل ونوحّد أشكال الألف والياء، وفي اللغتين نستبدل الروابط والبريد وننظف المسافات. بعدها تُستخرج مقاطع أحرف بطول 3 إلى 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/workspace/scratch/6e5240c81744/work/Bilingual_Sentiment_AI_Project/src/text_utils.py</a:t>
            </a:r>
          </a:p>
          <a:p xmlns:a="http://schemas.openxmlformats.org/drawingml/2006/main">
            <a:r>
              <a:t>- /workspace/scratch/6e5240c81744/work/Bilingual_Sentiment_AI_Project/src/train.py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اشرح تصميم التجربة: تقسيم طبقي 80/20 حتى نحافظ على نسب اللغة والفئة، ثم سمات Character TF-IDF، ثم مقارنة نموذجين مع تحقق متقاطع بخمس طيات. استخدمنا random seed 42 لإعادة إنتاج النتائج.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/workspace/scratch/6e5240c81744/work/Bilingual_Sentiment_AI_Project/results/metrics.json</a:t>
            </a:r>
          </a:p>
          <a:p xmlns:a="http://schemas.openxmlformats.org/drawingml/2006/main">
            <a:r>
              <a:t>- /workspace/scratch/6e5240c81744/work/Bilingual_Sentiment_AI_Project/src/train.py</a:t>
            </a:r>
          </a:p>
          <a:p xmlns:a="http://schemas.openxmlformats.org/drawingml/2006/main">
            <a:r>
              <a:t>- Scikit-learn: https://www.jmlr.org/papers/v12/pedregosa11a.html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هذه أهم شريحة نتائج. قارن النموذجين وبيّن أن الفرق صغير لكنه لصالح Logistic Regression في Macro F1 على الاختبار وفي التحقق المتقاطع. لذلك تم حفظه كنموذج نهائي.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/workspace/scratch/6e5240c81744/work/Bilingual_Sentiment_AI_Project/results/model_comparison.png</a:t>
            </a:r>
          </a:p>
          <a:p xmlns:a="http://schemas.openxmlformats.org/drawingml/2006/main">
            <a:r>
              <a:t>- /workspace/scratch/6e5240c81744/work/Bilingual_Sentiment_AI_Project/results/metrics.json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لا تقل إن النموذج ضعيف في العربية بشكل مطلق. المقارنة ليست متكافئة: الإنجليزية مراجعات كاملة، والعربية مفردات وعبارات معجمية. كذلك الصرف واللهجات العربية يزيدان التنوع. هذه نتيجة تحدد ما نحتاجه في المرحلة القادمة.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/workspace/scratch/6e5240c81744/work/Bilingual_Sentiment_AI_Project/results/language_f1.png</a:t>
            </a:r>
          </a:p>
          <a:p xmlns:a="http://schemas.openxmlformats.org/drawingml/2006/main">
            <a:r>
              <a:t>- /workspace/scratch/6e5240c81744/work/Bilingual_Sentiment_AI_Project/results/metrics.json</a:t>
            </a:r>
          </a:p>
          <a:p xmlns:a="http://schemas.openxmlformats.org/drawingml/2006/main">
            <a:r>
              <a:t>- /workspace/scratch/6e5240c81744/work/Bilingual_Sentiment_AI_Project/README.md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اشرح صفوف وأعمدة مصفوفة الالتباس. لدينا 553 سلبياً صحيحاً و375 إيجابياً صحيحاً، مقابل 159 و166 خطأ. أداء الفئة الإيجابية أقل، لذلك جودة وتوازن البيانات يمثلان فرصة تحسين واضحة.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/workspace/scratch/6e5240c81744/work/Bilingual_Sentiment_AI_Project/results/confusion_matrix.png</a:t>
            </a:r>
          </a:p>
          <a:p xmlns:a="http://schemas.openxmlformats.org/drawingml/2006/main">
            <a:r>
              <a:t>- /workspace/scratch/6e5240c81744/work/Bilingual_Sentiment_AI_Project/results/metrics.json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في العرض العملي شغّل الملف web_app.py وافتح الرابط المحلي. جرّب جملة إيجابية وسلبية بالإنجليزية ثم بالعربية. إذا ظهرت Neutral وضّح أنها امتناع بسبب ثقة أقل من 0.60 وليست فئة ثالثة تدرب عليها النموذج.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/workspace/scratch/6e5240c81744/work/Bilingual_Sentiment_AI_Project/web_app.py</a:t>
            </a:r>
          </a:p>
          <a:p xmlns:a="http://schemas.openxmlformats.org/drawingml/2006/main">
            <a:r>
              <a:t>- /workspace/scratch/6e5240c81744/work/Bilingual_Sentiment_AI_Project/docs/DEMO_AND_DISCUSSION_GUIDE.md</a:t>
            </a:r>
          </a:p>
          <a:p xmlns:a="http://schemas.openxmlformats.org/drawingml/2006/main">
            <a:r>
              <a:t>- /workspace/scratch/6e5240c81744/work/Bilingual_Sentiment_AI_Project/results/metrics.json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قدّم القيود كمسار تطوير لا كإخفاء للنتائج. أهم تحسين هو جمع مراجعات عربية فلسطينية حقيقية بعد حذف أي معلومات شخصية، ثم تعليمها يدوياً ومقارنة النموذج البسيط مع AraBERT أو mBERT.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/workspace/scratch/6e5240c81744/work/Bilingual_Sentiment_AI_Project/results/metrics.json</a:t>
            </a:r>
          </a:p>
          <a:p xmlns:a="http://schemas.openxmlformats.org/drawingml/2006/main">
            <a:r>
              <a:t>- /workspace/scratch/6e5240c81744/work/Bilingual_Sentiment_AI_Project/DATA_SOURCES.md</a:t>
            </a:r>
          </a:p>
          <a:p xmlns:a="http://schemas.openxmlformats.org/drawingml/2006/main">
            <a:r>
              <a:t>- /workspace/scratch/6e5240c81744/work/Bilingual_Sentiment_AI_Project/README.md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اختم بثلاث نقاط: النظام يعمل، اختيار النموذج مبني على نتائج مقاسة، والحد الرئيسي معروف ومذكور بوضوح. ثم افتح المجال للأسئلة أو انتقل مباشرة إلى العرض العملي إذا لم تكن قد شغّلته.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/workspace/scratch/6e5240c81744/work/Bilingual_Sentiment_AI_Project/results/metrics.json</a:t>
            </a:r>
          </a:p>
          <a:p xmlns:a="http://schemas.openxmlformats.org/drawingml/2006/main">
            <a:r>
              <a:t>- /workspace/scratch/6e5240c81744/work/Bilingual_Sentiment_AI_Project/paper/ICRE_2026_Final_Bilingual_Sentiment_Paper.pdf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a581b41c884d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55c58be2e84c41" /><Relationship Type="http://schemas.openxmlformats.org/officeDocument/2006/relationships/slideLayout" Target="/ppt/slideLayouts/slideLayout1.xml" Id="Rd20f7bdba5404b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0f7bdba5404b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fdb233f0e1412a" /><Relationship Type="http://schemas.openxmlformats.org/officeDocument/2006/relationships/notesSlide" Target="/ppt/notesSlides/notesSlide1.xml" Id="Rc15b4b5afebc4b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3b17271c4a4458" /><Relationship Type="http://schemas.openxmlformats.org/officeDocument/2006/relationships/notesSlide" Target="/ppt/notesSlides/notesSlide2.xml" Id="R383700010e3d402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40280bc93a4911" /><Relationship Type="http://schemas.openxmlformats.org/officeDocument/2006/relationships/notesSlide" Target="/ppt/notesSlides/notesSlide3.xml" Id="Ra402e3e563f143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79fbc672524ede" /><Relationship Type="http://schemas.openxmlformats.org/officeDocument/2006/relationships/image" Target="/ppt/media/image.png" Id="R69e51a8286204117" /><Relationship Type="http://schemas.openxmlformats.org/officeDocument/2006/relationships/notesSlide" Target="/ppt/notesSlides/notesSlide4.xml" Id="Rb90da94ee0d442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23ce2cd5964607" /><Relationship Type="http://schemas.openxmlformats.org/officeDocument/2006/relationships/notesSlide" Target="/ppt/notesSlides/notesSlide5.xml" Id="R5a3ad5c5e9e64a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6280d80e194cbc" /><Relationship Type="http://schemas.openxmlformats.org/officeDocument/2006/relationships/notesSlide" Target="/ppt/notesSlides/notesSlide6.xml" Id="Rbbac4d3def4e4d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faedaefd384423" /><Relationship Type="http://schemas.openxmlformats.org/officeDocument/2006/relationships/image" Target="/ppt/media/image2.png" Id="R4b1b294b4a9946bf" /><Relationship Type="http://schemas.openxmlformats.org/officeDocument/2006/relationships/notesSlide" Target="/ppt/notesSlides/notesSlide7.xml" Id="Ra67a9f22a1104f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bc8c5c310c424a" /><Relationship Type="http://schemas.openxmlformats.org/officeDocument/2006/relationships/image" Target="/ppt/media/image3.png" Id="R5e5e711eb55e430c" /><Relationship Type="http://schemas.openxmlformats.org/officeDocument/2006/relationships/notesSlide" Target="/ppt/notesSlides/notesSlide8.xml" Id="Re56fd8cd58644b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feb9eb9b724a45" /><Relationship Type="http://schemas.openxmlformats.org/officeDocument/2006/relationships/image" Target="/ppt/media/image4.png" Id="R3ef6a7bf6c9148a6" /><Relationship Type="http://schemas.openxmlformats.org/officeDocument/2006/relationships/notesSlide" Target="/ppt/notesSlides/notesSlide9.xml" Id="R1ba1c04a15c3421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583fe5a6644fe1" /><Relationship Type="http://schemas.openxmlformats.org/officeDocument/2006/relationships/notesSlide" Target="/ppt/notesSlides/notesSlide10.xml" Id="Rd768e3d62f4d41a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a07fb8a0164619" /><Relationship Type="http://schemas.openxmlformats.org/officeDocument/2006/relationships/notesSlide" Target="/ppt/notesSlides/notesSlide11.xml" Id="R6e1d441e33d742d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61bbe5e5f44303" /><Relationship Type="http://schemas.openxmlformats.org/officeDocument/2006/relationships/notesSlide" Target="/ppt/notesSlides/notesSlide12.xml" Id="Ra10bbeb98bf040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20CA1ADE-8732-4093-9CF0-1B5041B5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D7FF9"/>
                </a:solidFill>
              </a:defRPr>
            </a:pPr>
            <a:r>
              <a:rPr sz="1200" b="1">
                <a:solidFill>
                  <a:srgbClr val="2D7FF9"/>
                </a:solidFill>
              </a:rPr>
              <a:t>ICRE 2026  •  FINAL AI COURSE PROJECT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CEA48F8-D3F5-41EA-9DB0-5B1C0F4F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5429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827"/>
                </a:solidFill>
              </a:defRPr>
            </a:pPr>
            <a:r>
              <a:rPr sz="3750" b="1">
                <a:solidFill>
                  <a:srgbClr val="111827"/>
                </a:solidFill>
              </a:rPr>
              <a:t>Bilingual Arabic–English</a:t>
            </a:r>
          </a:p>
          <a:p xmlns:a="http://schemas.openxmlformats.org/drawingml/2006/main">
            <a:pPr algn="l">
              <a:defRPr sz="3750" b="1">
                <a:solidFill>
                  <a:srgbClr val="111827"/>
                </a:solidFill>
              </a:defRPr>
            </a:pPr>
            <a:r>
              <a:rPr sz="3750" b="1">
                <a:solidFill>
                  <a:srgbClr val="111827"/>
                </a:solidFill>
              </a:rPr>
              <a:t>Sentiment Analysis</a:t>
            </a:r>
          </a:p>
        </p:txBody>
      </p:sp>
      <p:sp>
        <p:nvSpPr>
          <p:cNvPr id="3" name="cover-ar">
            <a:extLst xmlns:a="http://schemas.openxmlformats.org/drawingml/2006/main">
              <a:ext uri="{FF2B5EF4-FFF2-40B4-BE49-F238E27FC236}">
                <a16:creationId xmlns:a16="http://schemas.microsoft.com/office/drawing/2014/main" id="{5A9FDF8C-DFE2-40B6-9C10-AE9A5827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5429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147D8C"/>
                </a:solidFill>
              </a:defRPr>
            </a:pPr>
            <a:r>
              <a:rPr sz="2175" b="1">
                <a:solidFill>
                  <a:srgbClr val="147D8C"/>
                </a:solidFill>
              </a:rPr>
              <a:t>تحليل المشاعر ثنائي اللغة</a:t>
            </a:r>
          </a:p>
          <a:p xmlns:a="http://schemas.openxmlformats.org/drawingml/2006/main">
            <a:pPr algn="r">
              <a:defRPr sz="2175" b="1">
                <a:solidFill>
                  <a:srgbClr val="147D8C"/>
                </a:solidFill>
              </a:defRPr>
            </a:pPr>
            <a:r>
              <a:rPr sz="2175" b="1">
                <a:solidFill>
                  <a:srgbClr val="147D8C"/>
                </a:solidFill>
              </a:rPr>
              <a:t>العربية والإنجليزية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165C87F3-6729-48E8-A627-B10525527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514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</a:defRPr>
            </a:pPr>
            <a:r>
              <a:rPr sz="1575" b="0">
                <a:solidFill>
                  <a:srgbClr val="5B6472"/>
                </a:solidFill>
              </a:rPr>
              <a:t>A reproducible machine-learning system for positive, negative, and uncertainty-aware predictions.</a:t>
            </a:r>
          </a:p>
        </p:txBody>
      </p:sp>
      <p:sp>
        <p:nvSpPr>
          <p:cNvPr id="5" name="cover-team">
            <a:extLst xmlns:a="http://schemas.openxmlformats.org/drawingml/2006/main">
              <a:ext uri="{FF2B5EF4-FFF2-40B4-BE49-F238E27FC236}">
                <a16:creationId xmlns:a16="http://schemas.microsoft.com/office/drawing/2014/main" id="{3E9222B4-AB71-494A-8F5A-1695981A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Mohammad Rouhi Khattab  •  Salam Al-Buhaisi  •  Mohammad Abu Khammash</a:t>
            </a:r>
          </a:p>
        </p:txBody>
      </p:sp>
      <p:sp>
        <p:nvSpPr>
          <p:cNvPr id="6" name="cover-hero">
            <a:extLst xmlns:a="http://schemas.openxmlformats.org/drawingml/2006/main">
              <a:ext uri="{FF2B5EF4-FFF2-40B4-BE49-F238E27FC236}">
                <a16:creationId xmlns:a16="http://schemas.microsoft.com/office/drawing/2014/main" id="{09993FF4-95CB-4EFE-8CE4-EA5324CE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7200"/>
            <a:ext cx="5086350" cy="5410200"/>
          </a:xfrm>
          <a:prstGeom xmlns:a="http://schemas.openxmlformats.org/drawingml/2006/main" prst="roundRect">
            <a:avLst>
              <a:gd name="adj" fmla="val 1498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B7D8FF"/>
            </a:solidFill>
            <a:prstDash val="solid"/>
          </a:ln>
        </p:spPr>
      </p:sp>
      <p:sp>
        <p:nvSpPr>
          <p:cNvPr id="7" name="hero-ar">
            <a:extLst xmlns:a="http://schemas.openxmlformats.org/drawingml/2006/main">
              <a:ext uri="{FF2B5EF4-FFF2-40B4-BE49-F238E27FC236}">
                <a16:creationId xmlns:a16="http://schemas.microsoft.com/office/drawing/2014/main" id="{D0264467-FD05-486D-9501-014EC449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104900"/>
            <a:ext cx="1714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147D8C"/>
                </a:solidFill>
              </a:defRPr>
            </a:pPr>
            <a:r>
              <a:rPr sz="5550" b="1">
                <a:solidFill>
                  <a:srgbClr val="147D8C"/>
                </a:solidFill>
              </a:rPr>
              <a:t>AR</a:t>
            </a:r>
          </a:p>
        </p:txBody>
      </p:sp>
      <p:sp>
        <p:nvSpPr>
          <p:cNvPr id="8" name="hero-en">
            <a:extLst xmlns:a="http://schemas.openxmlformats.org/drawingml/2006/main">
              <a:ext uri="{FF2B5EF4-FFF2-40B4-BE49-F238E27FC236}">
                <a16:creationId xmlns:a16="http://schemas.microsoft.com/office/drawing/2014/main" id="{B464F61F-299B-417E-94F0-5B113CE0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104900"/>
            <a:ext cx="1714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550" b="1">
                <a:solidFill>
                  <a:srgbClr val="2D7FF9"/>
                </a:solidFill>
              </a:defRPr>
            </a:pPr>
            <a:r>
              <a:rPr sz="5550" b="1">
                <a:solidFill>
                  <a:srgbClr val="2D7FF9"/>
                </a:solidFill>
              </a:rPr>
              <a:t>EN</a:t>
            </a:r>
          </a:p>
        </p:txBody>
      </p:sp>
      <p:cxnSp>
        <p:nvCxnSpPr>
          <p:cNvPr id="21" name="hero-rule"/>
          <p:cNvCxnSpPr/>
          <p:nvPr/>
        </p:nvCxnSpPr>
        <p:spPr>
          <a:xfrm xmlns:a="http://schemas.openxmlformats.org/drawingml/2006/main">
            <a:off x="6934200" y="2438400"/>
            <a:ext cx="40957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EC8F7"/>
            </a:solidFill>
            <a:prstDash val="solid"/>
          </a:ln>
        </p:spPr>
      </p:cxnSp>
      <p:sp>
        <p:nvSpPr>
          <p:cNvPr id="10" name="hero-positive">
            <a:extLst xmlns:a="http://schemas.openxmlformats.org/drawingml/2006/main">
              <a:ext uri="{FF2B5EF4-FFF2-40B4-BE49-F238E27FC236}">
                <a16:creationId xmlns:a16="http://schemas.microsoft.com/office/drawing/2014/main" id="{96AD1042-21FF-482D-A4D0-8EFBA7B0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95600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A34A"/>
                </a:solidFill>
              </a:defRPr>
            </a:pPr>
            <a:r>
              <a:rPr sz="2100" b="1">
                <a:solidFill>
                  <a:srgbClr val="16A34A"/>
                </a:solidFill>
              </a:rPr>
              <a:t>+  POSITIVE</a:t>
            </a:r>
          </a:p>
          <a:p xmlns:a="http://schemas.openxmlformats.org/drawingml/2006/main">
            <a:pPr algn="l">
              <a:defRPr sz="2100" b="1">
                <a:solidFill>
                  <a:srgbClr val="16A34A"/>
                </a:solidFill>
              </a:defRPr>
            </a:pPr>
            <a:r>
              <a:rPr sz="2100" b="1">
                <a:solidFill>
                  <a:srgbClr val="16A34A"/>
                </a:solidFill>
              </a:rPr>
              <a:t>   إيجابي</a:t>
            </a:r>
          </a:p>
        </p:txBody>
      </p:sp>
      <p:sp>
        <p:nvSpPr>
          <p:cNvPr id="11" name="hero-negative">
            <a:extLst xmlns:a="http://schemas.openxmlformats.org/drawingml/2006/main">
              <a:ext uri="{FF2B5EF4-FFF2-40B4-BE49-F238E27FC236}">
                <a16:creationId xmlns:a16="http://schemas.microsoft.com/office/drawing/2014/main" id="{AEB67753-120E-4412-A934-7653976A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57650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C2626"/>
                </a:solidFill>
              </a:defRPr>
            </a:pPr>
            <a:r>
              <a:rPr sz="2100" b="1">
                <a:solidFill>
                  <a:srgbClr val="DC2626"/>
                </a:solidFill>
              </a:rPr>
              <a:t>−  NEGATIVE</a:t>
            </a:r>
          </a:p>
          <a:p xmlns:a="http://schemas.openxmlformats.org/drawingml/2006/main">
            <a:pPr algn="l">
              <a:defRPr sz="2100" b="1">
                <a:solidFill>
                  <a:srgbClr val="DC2626"/>
                </a:solidFill>
              </a:defRPr>
            </a:pPr>
            <a:r>
              <a:rPr sz="2100" b="1">
                <a:solidFill>
                  <a:srgbClr val="DC2626"/>
                </a:solidFill>
              </a:rPr>
              <a:t>   سلبي</a:t>
            </a:r>
          </a:p>
        </p:txBody>
      </p:sp>
      <p:sp>
        <p:nvSpPr>
          <p:cNvPr id="12" name="cover-year">
            <a:extLst xmlns:a="http://schemas.openxmlformats.org/drawingml/2006/main">
              <a:ext uri="{FF2B5EF4-FFF2-40B4-BE49-F238E27FC236}">
                <a16:creationId xmlns:a16="http://schemas.microsoft.com/office/drawing/2014/main" id="{F6E3CE3D-6CB1-4D7F-888C-27C551C4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05550"/>
            <a:ext cx="1009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7731875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en-2">
            <a:extLst xmlns:a="http://schemas.openxmlformats.org/drawingml/2006/main">
              <a:ext uri="{FF2B5EF4-FFF2-40B4-BE49-F238E27FC236}">
                <a16:creationId xmlns:a16="http://schemas.microsoft.com/office/drawing/2014/main" id="{E0DD6B6F-791B-4DF0-AF6D-2FF01C3B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Free-text reviews become actionable sentiment</a:t>
            </a:r>
          </a:p>
        </p:txBody>
      </p:sp>
      <p:sp>
        <p:nvSpPr>
          <p:cNvPr id="2" name="title-kicker-2">
            <a:extLst xmlns:a="http://schemas.openxmlformats.org/drawingml/2006/main">
              <a:ext uri="{FF2B5EF4-FFF2-40B4-BE49-F238E27FC236}">
                <a16:creationId xmlns:a16="http://schemas.microsoft.com/office/drawing/2014/main" id="{707ADAD5-DD02-4737-9448-3C7B698C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ICRE 2026  •  AI FINAL PROJECT</a:t>
            </a:r>
          </a:p>
        </p:txBody>
      </p:sp>
      <p:sp>
        <p:nvSpPr>
          <p:cNvPr id="3" name="title-ar-2">
            <a:extLst xmlns:a="http://schemas.openxmlformats.org/drawingml/2006/main">
              <a:ext uri="{FF2B5EF4-FFF2-40B4-BE49-F238E27FC236}">
                <a16:creationId xmlns:a16="http://schemas.microsoft.com/office/drawing/2014/main" id="{49718900-FE84-437D-85BF-D23FAAA9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933450"/>
            <a:ext cx="681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D7FF9"/>
                </a:solidFill>
              </a:defRPr>
            </a:pPr>
            <a:r>
              <a:rPr sz="1500" b="1">
                <a:solidFill>
                  <a:srgbClr val="2D7FF9"/>
                </a:solidFill>
              </a:rPr>
              <a:t>تحويل المراجعات النصية إلى مشاعر قابلة للتحليل</a:t>
            </a:r>
          </a:p>
        </p:txBody>
      </p:sp>
      <p:cxnSp>
        <p:nvCxnSpPr>
          <p:cNvPr id="21" name="title-rule-2"/>
          <p:cNvCxnSpPr/>
          <p:nvPr/>
        </p:nvCxnSpPr>
        <p:spPr>
          <a:xfrm xmlns:a="http://schemas.openxmlformats.org/drawingml/2006/main">
            <a:off x="609600" y="1362075"/>
            <a:ext cx="109728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D6"/>
            </a:solidFill>
            <a:prstDash val="solid"/>
          </a:ln>
        </p:spPr>
      </p:cxnSp>
      <p:sp>
        <p:nvSpPr>
          <p:cNvPr id="5" name="problem-statement">
            <a:extLst xmlns:a="http://schemas.openxmlformats.org/drawingml/2006/main">
              <a:ext uri="{FF2B5EF4-FFF2-40B4-BE49-F238E27FC236}">
                <a16:creationId xmlns:a16="http://schemas.microsoft.com/office/drawing/2014/main" id="{A934ACF5-2007-4858-87B3-67CFB837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Customer feedback is multilingual, unstructured, and expensive to review manually.</a:t>
            </a:r>
          </a:p>
        </p:txBody>
      </p:sp>
      <p:sp>
        <p:nvSpPr>
          <p:cNvPr id="6" name="problem-ar">
            <a:extLst xmlns:a="http://schemas.openxmlformats.org/drawingml/2006/main">
              <a:ext uri="{FF2B5EF4-FFF2-40B4-BE49-F238E27FC236}">
                <a16:creationId xmlns:a16="http://schemas.microsoft.com/office/drawing/2014/main" id="{01BA9DAD-C3D1-4FE6-BBCE-C880A629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B6472"/>
                </a:solidFill>
              </a:defRPr>
            </a:pPr>
            <a:r>
              <a:rPr sz="1500" b="0">
                <a:solidFill>
                  <a:srgbClr val="5B6472"/>
                </a:solidFill>
              </a:rPr>
              <a:t>ملاحظات العملاء متعددة اللغات وغير منظمة، وتحليلها يدوياً يستغرق وقتاً.</a:t>
            </a:r>
          </a:p>
        </p:txBody>
      </p:sp>
      <p:cxnSp>
        <p:nvCxnSpPr>
          <p:cNvPr id="24" name="problem-divider"/>
          <p:cNvCxnSpPr/>
          <p:nvPr/>
        </p:nvCxnSpPr>
        <p:spPr>
          <a:xfrm xmlns:a="http://schemas.openxmlformats.org/drawingml/2006/main">
            <a:off x="6000750" y="1695450"/>
            <a:ext cx="9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D6"/>
            </a:solidFill>
            <a:prstDash val="solid"/>
          </a:ln>
        </p:spPr>
      </p:cxnSp>
      <p:sp>
        <p:nvSpPr>
          <p:cNvPr id="8" name="positive-sample">
            <a:extLst xmlns:a="http://schemas.openxmlformats.org/drawingml/2006/main">
              <a:ext uri="{FF2B5EF4-FFF2-40B4-BE49-F238E27FC236}">
                <a16:creationId xmlns:a16="http://schemas.microsoft.com/office/drawing/2014/main" id="{9193E987-60FB-4C3C-BB7D-9EF60E3F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714500"/>
            <a:ext cx="4667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9" name="positive-sample-text">
            <a:extLst xmlns:a="http://schemas.openxmlformats.org/drawingml/2006/main">
              <a:ext uri="{FF2B5EF4-FFF2-40B4-BE49-F238E27FC236}">
                <a16:creationId xmlns:a16="http://schemas.microsoft.com/office/drawing/2014/main" id="{D5E4A9F4-EA96-4958-935A-586ADB95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76450"/>
            <a:ext cx="4057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“The service is excellent and fast.”</a:t>
            </a:r>
          </a:p>
        </p:txBody>
      </p:sp>
      <p:sp>
        <p:nvSpPr>
          <p:cNvPr id="10" name="positive-output">
            <a:extLst xmlns:a="http://schemas.openxmlformats.org/drawingml/2006/main">
              <a:ext uri="{FF2B5EF4-FFF2-40B4-BE49-F238E27FC236}">
                <a16:creationId xmlns:a16="http://schemas.microsoft.com/office/drawing/2014/main" id="{5DCCD214-ABF8-4628-AEDE-CA181120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4320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POSITIVE  •  إيجابي</a:t>
            </a:r>
          </a:p>
        </p:txBody>
      </p:sp>
      <p:sp>
        <p:nvSpPr>
          <p:cNvPr id="11" name="negative-sample">
            <a:extLst xmlns:a="http://schemas.openxmlformats.org/drawingml/2006/main">
              <a:ext uri="{FF2B5EF4-FFF2-40B4-BE49-F238E27FC236}">
                <a16:creationId xmlns:a16="http://schemas.microsoft.com/office/drawing/2014/main" id="{DD5B323B-FA00-4441-A7AC-985F6406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38550"/>
            <a:ext cx="4667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FECACA"/>
            </a:solidFill>
            <a:prstDash val="solid"/>
          </a:ln>
        </p:spPr>
      </p:sp>
      <p:sp>
        <p:nvSpPr>
          <p:cNvPr id="12" name="negative-sample-text">
            <a:extLst xmlns:a="http://schemas.openxmlformats.org/drawingml/2006/main">
              <a:ext uri="{FF2B5EF4-FFF2-40B4-BE49-F238E27FC236}">
                <a16:creationId xmlns:a16="http://schemas.microsoft.com/office/drawing/2014/main" id="{30FEB463-90A2-4B1F-BE4F-865BED8AE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00500"/>
            <a:ext cx="4057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«الخدمة سيئة ومخيبة للآمال»</a:t>
            </a:r>
          </a:p>
        </p:txBody>
      </p:sp>
      <p:sp>
        <p:nvSpPr>
          <p:cNvPr id="13" name="negative-output">
            <a:extLst xmlns:a="http://schemas.openxmlformats.org/drawingml/2006/main">
              <a:ext uri="{FF2B5EF4-FFF2-40B4-BE49-F238E27FC236}">
                <a16:creationId xmlns:a16="http://schemas.microsoft.com/office/drawing/2014/main" id="{121BEAFD-E1E1-4F95-8C24-2EE67BFC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66725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C2626"/>
                </a:solidFill>
              </a:defRPr>
            </a:pPr>
            <a:r>
              <a:rPr sz="1650" b="1">
                <a:solidFill>
                  <a:srgbClr val="DC2626"/>
                </a:solidFill>
              </a:rPr>
              <a:t>NEGATIVE  •  سلبي</a:t>
            </a:r>
          </a:p>
        </p:txBody>
      </p:sp>
      <p:sp>
        <p:nvSpPr>
          <p:cNvPr id="14" name="objective">
            <a:extLst xmlns:a="http://schemas.openxmlformats.org/drawingml/2006/main">
              <a:ext uri="{FF2B5EF4-FFF2-40B4-BE49-F238E27FC236}">
                <a16:creationId xmlns:a16="http://schemas.microsoft.com/office/drawing/2014/main" id="{66996BF1-A0BB-48CE-8249-821BB20F1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D7FF9"/>
                </a:solidFill>
              </a:defRPr>
            </a:pPr>
            <a:r>
              <a:rPr sz="1575" b="1">
                <a:solidFill>
                  <a:srgbClr val="2D7FF9"/>
                </a:solidFill>
              </a:rPr>
              <a:t>Objective / الهدف: a simple, local, reproducible AI baseline for Arabic and English.</a:t>
            </a:r>
          </a:p>
        </p:txBody>
      </p:sp>
      <p:cxnSp>
        <p:nvCxnSpPr>
          <p:cNvPr id="32" name="footer-rule-2"/>
          <p:cNvCxnSpPr/>
          <p:nvPr/>
        </p:nvCxnSpPr>
        <p:spPr>
          <a:xfrm xmlns:a="http://schemas.openxmlformats.org/drawingml/2006/main">
            <a:off x="609600" y="6410325"/>
            <a:ext cx="109728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5E9"/>
            </a:solidFill>
            <a:prstDash val="solid"/>
          </a:ln>
        </p:spPr>
      </p:cxnSp>
      <p:sp>
        <p:nvSpPr>
          <p:cNvPr id="16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57D30677-6F20-495D-BCDA-DF8A61323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Bilingual Sentiment AI  |  نظام تحليل المشاعر</a:t>
            </a:r>
          </a:p>
        </p:txBody>
      </p:sp>
      <p:sp>
        <p:nvSpPr>
          <p:cNvPr id="17" name="footer-number-2">
            <a:extLst xmlns:a="http://schemas.openxmlformats.org/drawingml/2006/main">
              <a:ext uri="{FF2B5EF4-FFF2-40B4-BE49-F238E27FC236}">
                <a16:creationId xmlns:a16="http://schemas.microsoft.com/office/drawing/2014/main" id="{6A26E864-FB80-463F-89B1-56B37CAD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113162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en-3">
            <a:extLst xmlns:a="http://schemas.openxmlformats.org/drawingml/2006/main">
              <a:ext uri="{FF2B5EF4-FFF2-40B4-BE49-F238E27FC236}">
                <a16:creationId xmlns:a16="http://schemas.microsoft.com/office/drawing/2014/main" id="{B722F021-5F70-4DDA-900F-DC31086D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6,262 records balance two language components</a:t>
            </a:r>
          </a:p>
        </p:txBody>
      </p:sp>
      <p:sp>
        <p:nvSpPr>
          <p:cNvPr id="2" name="title-kicker-3">
            <a:extLst xmlns:a="http://schemas.openxmlformats.org/drawingml/2006/main">
              <a:ext uri="{FF2B5EF4-FFF2-40B4-BE49-F238E27FC236}">
                <a16:creationId xmlns:a16="http://schemas.microsoft.com/office/drawing/2014/main" id="{06C0971F-645C-422C-BD3B-6BED7B1A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ICRE 2026  •  AI FINAL PROJECT</a:t>
            </a:r>
          </a:p>
        </p:txBody>
      </p:sp>
      <p:sp>
        <p:nvSpPr>
          <p:cNvPr id="3" name="title-ar-3">
            <a:extLst xmlns:a="http://schemas.openxmlformats.org/drawingml/2006/main">
              <a:ext uri="{FF2B5EF4-FFF2-40B4-BE49-F238E27FC236}">
                <a16:creationId xmlns:a16="http://schemas.microsoft.com/office/drawing/2014/main" id="{FCC005A0-B6FF-47B0-BDB4-3ABAD3F8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933450"/>
            <a:ext cx="681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D7FF9"/>
                </a:solidFill>
              </a:defRPr>
            </a:pPr>
            <a:r>
              <a:rPr sz="1500" b="1">
                <a:solidFill>
                  <a:srgbClr val="2D7FF9"/>
                </a:solidFill>
              </a:rPr>
              <a:t>تتكون البيانات من 6,262 سجلاً موزعاً على مكوّنين لغويين</a:t>
            </a:r>
          </a:p>
        </p:txBody>
      </p:sp>
      <p:cxnSp>
        <p:nvCxnSpPr>
          <p:cNvPr id="22" name="title-rule-3"/>
          <p:cNvCxnSpPr/>
          <p:nvPr/>
        </p:nvCxnSpPr>
        <p:spPr>
          <a:xfrm xmlns:a="http://schemas.openxmlformats.org/drawingml/2006/main">
            <a:off x="609600" y="1362075"/>
            <a:ext cx="109728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D6"/>
            </a:solidFill>
            <a:prstDash val="solid"/>
          </a:ln>
        </p:spPr>
      </p:cxnSp>
      <p:sp>
        <p:nvSpPr>
          <p:cNvPr id="5" name="data-ar-value">
            <a:extLst xmlns:a="http://schemas.openxmlformats.org/drawingml/2006/main">
              <a:ext uri="{FF2B5EF4-FFF2-40B4-BE49-F238E27FC236}">
                <a16:creationId xmlns:a16="http://schemas.microsoft.com/office/drawing/2014/main" id="{364816E2-24AA-46DC-A58E-858B04B8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400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47D8C"/>
                </a:solidFill>
              </a:defRPr>
            </a:pPr>
            <a:r>
              <a:rPr sz="3600" b="1">
                <a:solidFill>
                  <a:srgbClr val="147D8C"/>
                </a:solidFill>
              </a:rPr>
              <a:t>3,283</a:t>
            </a:r>
          </a:p>
        </p:txBody>
      </p:sp>
      <p:sp>
        <p:nvSpPr>
          <p:cNvPr id="6" name="data-ar-label-en">
            <a:extLst xmlns:a="http://schemas.openxmlformats.org/drawingml/2006/main">
              <a:ext uri="{FF2B5EF4-FFF2-40B4-BE49-F238E27FC236}">
                <a16:creationId xmlns:a16="http://schemas.microsoft.com/office/drawing/2014/main" id="{9BAF07BE-DC8E-4D5F-BD71-404CD62A8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Arabic sentiment terms</a:t>
            </a:r>
          </a:p>
        </p:txBody>
      </p:sp>
      <p:sp>
        <p:nvSpPr>
          <p:cNvPr id="7" name="data-ar-label-ar">
            <a:extLst xmlns:a="http://schemas.openxmlformats.org/drawingml/2006/main">
              <a:ext uri="{FF2B5EF4-FFF2-40B4-BE49-F238E27FC236}">
                <a16:creationId xmlns:a16="http://schemas.microsoft.com/office/drawing/2014/main" id="{667B9408-ED51-4DD2-8D1D-AEA23E64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384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مصطلحات مشاعر عربية</a:t>
            </a:r>
          </a:p>
        </p:txBody>
      </p:sp>
      <p:sp>
        <p:nvSpPr>
          <p:cNvPr id="8" name="data-en-value">
            <a:extLst xmlns:a="http://schemas.openxmlformats.org/drawingml/2006/main">
              <a:ext uri="{FF2B5EF4-FFF2-40B4-BE49-F238E27FC236}">
                <a16:creationId xmlns:a16="http://schemas.microsoft.com/office/drawing/2014/main" id="{2A0C9ACD-970C-4F5E-B806-0527372F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90700"/>
            <a:ext cx="400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D7FF9"/>
                </a:solidFill>
              </a:defRPr>
            </a:pPr>
            <a:r>
              <a:rPr sz="3600" b="1">
                <a:solidFill>
                  <a:srgbClr val="2D7FF9"/>
                </a:solidFill>
              </a:rPr>
              <a:t>2,979</a:t>
            </a:r>
          </a:p>
        </p:txBody>
      </p:sp>
      <p:sp>
        <p:nvSpPr>
          <p:cNvPr id="9" name="data-en-label-en">
            <a:extLst xmlns:a="http://schemas.openxmlformats.org/drawingml/2006/main">
              <a:ext uri="{FF2B5EF4-FFF2-40B4-BE49-F238E27FC236}">
                <a16:creationId xmlns:a16="http://schemas.microsoft.com/office/drawing/2014/main" id="{6B57D7D5-C1D9-4064-A33B-903B75EC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336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English review sentences</a:t>
            </a:r>
          </a:p>
        </p:txBody>
      </p:sp>
      <p:sp>
        <p:nvSpPr>
          <p:cNvPr id="10" name="data-en-label-ar">
            <a:extLst xmlns:a="http://schemas.openxmlformats.org/drawingml/2006/main">
              <a:ext uri="{FF2B5EF4-FFF2-40B4-BE49-F238E27FC236}">
                <a16:creationId xmlns:a16="http://schemas.microsoft.com/office/drawing/2014/main" id="{24A9D455-2691-473C-B733-A2E65752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384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جمل مراجعات إنجليزية</a:t>
            </a:r>
          </a:p>
        </p:txBody>
      </p:sp>
      <p:cxnSp>
        <p:nvCxnSpPr>
          <p:cNvPr id="29" name="data-mid-rule"/>
          <p:cNvCxnSpPr/>
          <p:nvPr/>
        </p:nvCxnSpPr>
        <p:spPr>
          <a:xfrm xmlns:a="http://schemas.openxmlformats.org/drawingml/2006/main">
            <a:off x="6076950" y="1790700"/>
            <a:ext cx="9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D6"/>
            </a:solidFill>
            <a:prstDash val="solid"/>
          </a:ln>
        </p:spPr>
      </p:cxnSp>
      <p:sp>
        <p:nvSpPr>
          <p:cNvPr id="12" name="data-band">
            <a:extLst xmlns:a="http://schemas.openxmlformats.org/drawingml/2006/main">
              <a:ext uri="{FF2B5EF4-FFF2-40B4-BE49-F238E27FC236}">
                <a16:creationId xmlns:a16="http://schemas.microsoft.com/office/drawing/2014/main" id="{00DA61DE-3072-4DC6-A00F-01460D17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57600"/>
            <a:ext cx="982980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13" name="data-source-1">
            <a:extLst xmlns:a="http://schemas.openxmlformats.org/drawingml/2006/main">
              <a:ext uri="{FF2B5EF4-FFF2-40B4-BE49-F238E27FC236}">
                <a16:creationId xmlns:a16="http://schemas.microsoft.com/office/drawing/2014/main" id="{0C1F2A62-8C63-4771-AFD0-56E8170E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UCI Amazon 987   •   IMDb 996   •   Yelp 996</a:t>
            </a:r>
          </a:p>
        </p:txBody>
      </p:sp>
      <p:sp>
        <p:nvSpPr>
          <p:cNvPr id="14" name="data-source-2">
            <a:extLst xmlns:a="http://schemas.openxmlformats.org/drawingml/2006/main">
              <a:ext uri="{FF2B5EF4-FFF2-40B4-BE49-F238E27FC236}">
                <a16:creationId xmlns:a16="http://schemas.microsoft.com/office/drawing/2014/main" id="{B5173B43-A2FF-457D-96C3-76799A7B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005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Translated AFINN Arabic lexicon 3,283</a:t>
            </a:r>
          </a:p>
        </p:txBody>
      </p:sp>
      <p:sp>
        <p:nvSpPr>
          <p:cNvPr id="15" name="data-honesty">
            <a:extLst xmlns:a="http://schemas.openxmlformats.org/drawingml/2006/main">
              <a:ext uri="{FF2B5EF4-FFF2-40B4-BE49-F238E27FC236}">
                <a16:creationId xmlns:a16="http://schemas.microsoft.com/office/drawing/2014/main" id="{C861B01F-823F-4A1E-A981-EAF061CC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899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C2626"/>
                </a:solidFill>
              </a:defRPr>
            </a:pPr>
            <a:r>
              <a:rPr sz="1425" b="1">
                <a:solidFill>
                  <a:srgbClr val="DC2626"/>
                </a:solidFill>
              </a:rPr>
              <a:t>Important: the Arabic component contains translated sentiment terms—not natural customer-review sentences.</a:t>
            </a:r>
          </a:p>
        </p:txBody>
      </p:sp>
      <p:cxnSp>
        <p:nvCxnSpPr>
          <p:cNvPr id="34" name="footer-rule-3"/>
          <p:cNvCxnSpPr/>
          <p:nvPr/>
        </p:nvCxnSpPr>
        <p:spPr>
          <a:xfrm xmlns:a="http://schemas.openxmlformats.org/drawingml/2006/main">
            <a:off x="609600" y="6410325"/>
            <a:ext cx="109728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5E9"/>
            </a:solidFill>
            <a:prstDash val="solid"/>
          </a:ln>
        </p:spPr>
      </p:cxnSp>
      <p:sp>
        <p:nvSpPr>
          <p:cNvPr id="17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78AF732D-E238-4E69-BC5D-952CA4207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Bilingual Sentiment AI  |  نظام تحليل المشاعر</a:t>
            </a:r>
          </a:p>
        </p:txBody>
      </p:sp>
      <p:sp>
        <p:nvSpPr>
          <p:cNvPr id="18" name="footer-number-3">
            <a:extLst xmlns:a="http://schemas.openxmlformats.org/drawingml/2006/main">
              <a:ext uri="{FF2B5EF4-FFF2-40B4-BE49-F238E27FC236}">
                <a16:creationId xmlns:a16="http://schemas.microsoft.com/office/drawing/2014/main" id="{08802C23-9589-401C-96A7-43D1AC19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784395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en-4">
            <a:extLst xmlns:a="http://schemas.openxmlformats.org/drawingml/2006/main">
              <a:ext uri="{FF2B5EF4-FFF2-40B4-BE49-F238E27FC236}">
                <a16:creationId xmlns:a16="http://schemas.microsoft.com/office/drawing/2014/main" id="{FC005745-5474-4DCB-90B2-BD3BE796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One shared pipeline handles Arabic and English</a:t>
            </a:r>
          </a:p>
        </p:txBody>
      </p:sp>
      <p:sp>
        <p:nvSpPr>
          <p:cNvPr id="2" name="title-kicker-4">
            <a:extLst xmlns:a="http://schemas.openxmlformats.org/drawingml/2006/main">
              <a:ext uri="{FF2B5EF4-FFF2-40B4-BE49-F238E27FC236}">
                <a16:creationId xmlns:a16="http://schemas.microsoft.com/office/drawing/2014/main" id="{AFF3B43A-6FA1-46F6-A5A9-51DBDBF3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ICRE 2026  •  AI FINAL PROJECT</a:t>
            </a:r>
          </a:p>
        </p:txBody>
      </p:sp>
      <p:sp>
        <p:nvSpPr>
          <p:cNvPr id="3" name="title-ar-4">
            <a:extLst xmlns:a="http://schemas.openxmlformats.org/drawingml/2006/main">
              <a:ext uri="{FF2B5EF4-FFF2-40B4-BE49-F238E27FC236}">
                <a16:creationId xmlns:a16="http://schemas.microsoft.com/office/drawing/2014/main" id="{4F3EE803-0AF5-4CE8-9079-EFE2894A9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933450"/>
            <a:ext cx="681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D7FF9"/>
                </a:solidFill>
              </a:defRPr>
            </a:pPr>
            <a:r>
              <a:rPr sz="1500" b="1">
                <a:solidFill>
                  <a:srgbClr val="2D7FF9"/>
                </a:solidFill>
              </a:rPr>
              <a:t>خط معالجة واحد يدعم النص العربي والإنجليزي</a:t>
            </a:r>
          </a:p>
        </p:txBody>
      </p:sp>
      <p:cxnSp>
        <p:nvCxnSpPr>
          <p:cNvPr id="14" name="title-rule-4"/>
          <p:cNvCxnSpPr/>
          <p:nvPr/>
        </p:nvCxnSpPr>
        <p:spPr>
          <a:xfrm xmlns:a="http://schemas.openxmlformats.org/drawingml/2006/main">
            <a:off x="609600" y="1362075"/>
            <a:ext cx="109728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D6"/>
            </a:solidFill>
            <a:prstDash val="solid"/>
          </a:ln>
        </p:spPr>
      </p:cxn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e51a8286204117"/>
          <a:stretch xmlns:a="http://schemas.openxmlformats.org/drawingml/2006/main"/>
        </p:blipFill>
        <p:spPr>
          <a:xfrm xmlns:a="http://schemas.openxmlformats.org/drawingml/2006/main">
            <a:off x="742950" y="1947472"/>
            <a:ext cx="10706100" cy="2467756"/>
          </a:xfrm>
          <a:prstGeom xmlns:a="http://schemas.openxmlformats.org/drawingml/2006/main" prst="rect">
            <a:avLst/>
          </a:prstGeom>
        </p:spPr>
      </p:pic>
      <p:sp>
        <p:nvSpPr>
          <p:cNvPr id="6" name="pipeline-detail">
            <a:extLst xmlns:a="http://schemas.openxmlformats.org/drawingml/2006/main">
              <a:ext uri="{FF2B5EF4-FFF2-40B4-BE49-F238E27FC236}">
                <a16:creationId xmlns:a16="http://schemas.microsoft.com/office/drawing/2014/main" id="{170F92C1-BAC5-441A-9551-A23D9F7A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387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Unicode normalization → character 3–5 gram TF-IDF → selected classifier → positive, negative, or uncertain output</a:t>
            </a:r>
          </a:p>
        </p:txBody>
      </p:sp>
      <p:sp>
        <p:nvSpPr>
          <p:cNvPr id="7" name="pipeline-ar">
            <a:extLst xmlns:a="http://schemas.openxmlformats.org/drawingml/2006/main">
              <a:ext uri="{FF2B5EF4-FFF2-40B4-BE49-F238E27FC236}">
                <a16:creationId xmlns:a16="http://schemas.microsoft.com/office/drawing/2014/main" id="{382C3B20-DE3E-4475-A931-74A5CD0B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1020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B6472"/>
                </a:solidFill>
              </a:defRPr>
            </a:pPr>
            <a:r>
              <a:rPr sz="1425" b="0">
                <a:solidFill>
                  <a:srgbClr val="5B6472"/>
                </a:solidFill>
              </a:rPr>
              <a:t>توحيد النص يدعم اختلافات الكتابة العربية، بينما سمات الأحرف تعمل دون استخدام محللين منفصلين لكل لغة.</a:t>
            </a:r>
          </a:p>
        </p:txBody>
      </p:sp>
      <p:cxnSp>
        <p:nvCxnSpPr>
          <p:cNvPr id="18" name="footer-rule-4"/>
          <p:cNvCxnSpPr/>
          <p:nvPr/>
        </p:nvCxnSpPr>
        <p:spPr>
          <a:xfrm xmlns:a="http://schemas.openxmlformats.org/drawingml/2006/main">
            <a:off x="609600" y="6410325"/>
            <a:ext cx="109728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5E9"/>
            </a:solidFill>
            <a:prstDash val="solid"/>
          </a:ln>
        </p:spPr>
      </p:cxnSp>
      <p:sp>
        <p:nvSpPr>
          <p:cNvPr id="9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7AC36B3C-F64C-4006-967A-0CE93B24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Bilingual Sentiment AI  |  نظام تحليل المشاعر</a:t>
            </a:r>
          </a:p>
        </p:txBody>
      </p:sp>
      <p:sp>
        <p:nvSpPr>
          <p:cNvPr id="10" name="footer-number-4">
            <a:extLst xmlns:a="http://schemas.openxmlformats.org/drawingml/2006/main">
              <a:ext uri="{FF2B5EF4-FFF2-40B4-BE49-F238E27FC236}">
                <a16:creationId xmlns:a16="http://schemas.microsoft.com/office/drawing/2014/main" id="{F62E7A4E-0A89-48E0-AA2D-CA35D32C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770229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itle-en-5">
            <a:extLst xmlns:a="http://schemas.openxmlformats.org/drawingml/2006/main">
              <a:ext uri="{FF2B5EF4-FFF2-40B4-BE49-F238E27FC236}">
                <a16:creationId xmlns:a16="http://schemas.microsoft.com/office/drawing/2014/main" id="{74838A9E-9A55-41EF-B09B-E3EA89CF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Normalization reduces spelling and formatting noise</a:t>
            </a:r>
          </a:p>
        </p:txBody>
      </p:sp>
      <p:sp>
        <p:nvSpPr>
          <p:cNvPr id="2" name="title-kicker-5">
            <a:extLst xmlns:a="http://schemas.openxmlformats.org/drawingml/2006/main">
              <a:ext uri="{FF2B5EF4-FFF2-40B4-BE49-F238E27FC236}">
                <a16:creationId xmlns:a16="http://schemas.microsoft.com/office/drawing/2014/main" id="{4CB5F57D-FE4B-45EB-8A49-7A27F72E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ICRE 2026  •  AI FINAL PROJECT</a:t>
            </a:r>
          </a:p>
        </p:txBody>
      </p:sp>
      <p:sp>
        <p:nvSpPr>
          <p:cNvPr id="3" name="title-ar-5">
            <a:extLst xmlns:a="http://schemas.openxmlformats.org/drawingml/2006/main">
              <a:ext uri="{FF2B5EF4-FFF2-40B4-BE49-F238E27FC236}">
                <a16:creationId xmlns:a16="http://schemas.microsoft.com/office/drawing/2014/main" id="{42D247E3-FA1F-4DD3-8465-34C682E0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933450"/>
            <a:ext cx="681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D7FF9"/>
                </a:solidFill>
              </a:defRPr>
            </a:pPr>
            <a:r>
              <a:rPr sz="1500" b="1">
                <a:solidFill>
                  <a:srgbClr val="2D7FF9"/>
                </a:solidFill>
              </a:rPr>
              <a:t>التطبيع يقلل اختلافات الكتابة والتنسيق</a:t>
            </a:r>
          </a:p>
        </p:txBody>
      </p:sp>
      <p:cxnSp>
        <p:nvCxnSpPr>
          <p:cNvPr id="27" name="title-rule-5"/>
          <p:cNvCxnSpPr/>
          <p:nvPr/>
        </p:nvCxnSpPr>
        <p:spPr>
          <a:xfrm xmlns:a="http://schemas.openxmlformats.org/drawingml/2006/main">
            <a:off x="609600" y="1362075"/>
            <a:ext cx="109728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D6"/>
            </a:solidFill>
            <a:prstDash val="solid"/>
          </a:ln>
        </p:spPr>
      </p:cxnSp>
      <p:sp>
        <p:nvSpPr>
          <p:cNvPr id="5" name="prep-en-head">
            <a:extLst xmlns:a="http://schemas.openxmlformats.org/drawingml/2006/main">
              <a:ext uri="{FF2B5EF4-FFF2-40B4-BE49-F238E27FC236}">
                <a16:creationId xmlns:a16="http://schemas.microsoft.com/office/drawing/2014/main" id="{D0EE6F9C-1DCA-40EB-A9F1-4E42C36C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7FF9"/>
                </a:solidFill>
              </a:defRPr>
            </a:pPr>
            <a:r>
              <a:rPr sz="1350" b="1">
                <a:solidFill>
                  <a:srgbClr val="2D7FF9"/>
                </a:solidFill>
              </a:rPr>
              <a:t>ENGLISH</a:t>
            </a:r>
          </a:p>
        </p:txBody>
      </p:sp>
      <p:sp>
        <p:nvSpPr>
          <p:cNvPr id="6" name="prep-ar-head">
            <a:extLst xmlns:a="http://schemas.openxmlformats.org/drawingml/2006/main">
              <a:ext uri="{FF2B5EF4-FFF2-40B4-BE49-F238E27FC236}">
                <a16:creationId xmlns:a16="http://schemas.microsoft.com/office/drawing/2014/main" id="{17410AE7-6269-4600-9BAA-79E2A5C3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526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47D8C"/>
                </a:solidFill>
              </a:defRPr>
            </a:pPr>
            <a:r>
              <a:rPr sz="1500" b="1">
                <a:solidFill>
                  <a:srgbClr val="147D8C"/>
                </a:solidFill>
              </a:rPr>
              <a:t>العربية</a:t>
            </a:r>
          </a:p>
        </p:txBody>
      </p:sp>
      <p:cxnSp>
        <p:nvCxnSpPr>
          <p:cNvPr id="30" name="prep-divider"/>
          <p:cNvCxnSpPr/>
          <p:nvPr/>
        </p:nvCxnSpPr>
        <p:spPr>
          <a:xfrm xmlns:a="http://schemas.openxmlformats.org/drawingml/2006/main">
            <a:off x="6096000" y="1714500"/>
            <a:ext cx="9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D6"/>
            </a:solidFill>
            <a:prstDash val="solid"/>
          </a:ln>
        </p:spPr>
      </p:cxnSp>
      <p:sp>
        <p:nvSpPr>
          <p:cNvPr id="8" name="prep-en-raw-label">
            <a:extLst xmlns:a="http://schemas.openxmlformats.org/drawingml/2006/main">
              <a:ext uri="{FF2B5EF4-FFF2-40B4-BE49-F238E27FC236}">
                <a16:creationId xmlns:a16="http://schemas.microsoft.com/office/drawing/2014/main" id="{E5ACA2B9-87EF-4227-B8B1-7E18A0E30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472"/>
                </a:solidFill>
              </a:defRPr>
            </a:pPr>
            <a:r>
              <a:rPr sz="1275" b="1">
                <a:solidFill>
                  <a:srgbClr val="5B6472"/>
                </a:solidFill>
              </a:rPr>
              <a:t>RAW / قبل المعالجة</a:t>
            </a:r>
          </a:p>
        </p:txBody>
      </p:sp>
      <p:sp>
        <p:nvSpPr>
          <p:cNvPr id="9" name="prep-en-raw">
            <a:extLst xmlns:a="http://schemas.openxmlformats.org/drawingml/2006/main">
              <a:ext uri="{FF2B5EF4-FFF2-40B4-BE49-F238E27FC236}">
                <a16:creationId xmlns:a16="http://schemas.microsoft.com/office/drawing/2014/main" id="{AB8DB863-80B2-49BE-B6B7-6309BD22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4762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10" name="prep-en-raw-text">
            <a:extLst xmlns:a="http://schemas.openxmlformats.org/drawingml/2006/main">
              <a:ext uri="{FF2B5EF4-FFF2-40B4-BE49-F238E27FC236}">
                <a16:creationId xmlns:a16="http://schemas.microsoft.com/office/drawing/2014/main" id="{08FEA08F-5DA5-49D6-BF80-4B15A987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3845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Amazing!!! Visit https://example.com</a:t>
            </a:r>
          </a:p>
        </p:txBody>
      </p:sp>
      <p:sp>
        <p:nvSpPr>
          <p:cNvPr id="11" name="prep-en-clean-label">
            <a:extLst xmlns:a="http://schemas.openxmlformats.org/drawingml/2006/main">
              <a:ext uri="{FF2B5EF4-FFF2-40B4-BE49-F238E27FC236}">
                <a16:creationId xmlns:a16="http://schemas.microsoft.com/office/drawing/2014/main" id="{0FD2BEE7-7FD0-48CB-BC92-FBADF9B8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528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472"/>
                </a:solidFill>
              </a:defRPr>
            </a:pPr>
            <a:r>
              <a:rPr sz="1275" b="1">
                <a:solidFill>
                  <a:srgbClr val="5B6472"/>
                </a:solidFill>
              </a:rPr>
              <a:t>NORMALIZED / بعد المعالجة</a:t>
            </a:r>
          </a:p>
        </p:txBody>
      </p:sp>
      <p:sp>
        <p:nvSpPr>
          <p:cNvPr id="12" name="prep-en-clean">
            <a:extLst xmlns:a="http://schemas.openxmlformats.org/drawingml/2006/main">
              <a:ext uri="{FF2B5EF4-FFF2-40B4-BE49-F238E27FC236}">
                <a16:creationId xmlns:a16="http://schemas.microsoft.com/office/drawing/2014/main" id="{3E8A581C-D700-4F64-B5FD-00913647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4762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B7D8FF"/>
            </a:solidFill>
            <a:prstDash val="solid"/>
          </a:ln>
        </p:spPr>
      </p:sp>
      <p:sp>
        <p:nvSpPr>
          <p:cNvPr id="13" name="prep-en-clean-text">
            <a:extLst xmlns:a="http://schemas.openxmlformats.org/drawingml/2006/main">
              <a:ext uri="{FF2B5EF4-FFF2-40B4-BE49-F238E27FC236}">
                <a16:creationId xmlns:a16="http://schemas.microsoft.com/office/drawing/2014/main" id="{48C7B9F1-6B0B-46C0-BB0E-3F43D816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2435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D7FF9"/>
                </a:solidFill>
              </a:defRPr>
            </a:pPr>
            <a:r>
              <a:rPr sz="1725" b="1">
                <a:solidFill>
                  <a:srgbClr val="2D7FF9"/>
                </a:solidFill>
              </a:rPr>
              <a:t>amazing visit URL</a:t>
            </a:r>
          </a:p>
        </p:txBody>
      </p:sp>
      <p:sp>
        <p:nvSpPr>
          <p:cNvPr id="14" name="prep-ar-raw-label">
            <a:extLst xmlns:a="http://schemas.openxmlformats.org/drawingml/2006/main">
              <a:ext uri="{FF2B5EF4-FFF2-40B4-BE49-F238E27FC236}">
                <a16:creationId xmlns:a16="http://schemas.microsoft.com/office/drawing/2014/main" id="{A3CF1A67-854B-4CB5-8808-72C0C901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66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B6472"/>
                </a:solidFill>
              </a:defRPr>
            </a:pPr>
            <a:r>
              <a:rPr sz="1275" b="1">
                <a:solidFill>
                  <a:srgbClr val="5B6472"/>
                </a:solidFill>
              </a:rPr>
              <a:t>قبل المعالجة / RAW</a:t>
            </a:r>
          </a:p>
        </p:txBody>
      </p:sp>
      <p:sp>
        <p:nvSpPr>
          <p:cNvPr id="15" name="prep-ar-raw">
            <a:extLst xmlns:a="http://schemas.openxmlformats.org/drawingml/2006/main">
              <a:ext uri="{FF2B5EF4-FFF2-40B4-BE49-F238E27FC236}">
                <a16:creationId xmlns:a16="http://schemas.microsoft.com/office/drawing/2014/main" id="{DB54B827-EC2E-45F5-8CF2-48B5FA13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71750"/>
            <a:ext cx="4762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16" name="prep-ar-raw-text">
            <a:extLst xmlns:a="http://schemas.openxmlformats.org/drawingml/2006/main">
              <a:ext uri="{FF2B5EF4-FFF2-40B4-BE49-F238E27FC236}">
                <a16:creationId xmlns:a16="http://schemas.microsoft.com/office/drawing/2014/main" id="{16006FA5-5E25-4D3A-99FA-D20A5B68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3845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الخِدْمَــةُ رائِعَة!!!</a:t>
            </a:r>
          </a:p>
        </p:txBody>
      </p:sp>
      <p:sp>
        <p:nvSpPr>
          <p:cNvPr id="17" name="prep-ar-clean-label">
            <a:extLst xmlns:a="http://schemas.openxmlformats.org/drawingml/2006/main">
              <a:ext uri="{FF2B5EF4-FFF2-40B4-BE49-F238E27FC236}">
                <a16:creationId xmlns:a16="http://schemas.microsoft.com/office/drawing/2014/main" id="{AD03E64B-DAA4-468A-A7D8-7655B5A2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52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B6472"/>
                </a:solidFill>
              </a:defRPr>
            </a:pPr>
            <a:r>
              <a:rPr sz="1275" b="1">
                <a:solidFill>
                  <a:srgbClr val="5B6472"/>
                </a:solidFill>
              </a:rPr>
              <a:t>بعد المعالجة / NORMALIZED</a:t>
            </a:r>
          </a:p>
        </p:txBody>
      </p:sp>
      <p:sp>
        <p:nvSpPr>
          <p:cNvPr id="18" name="prep-ar-clean">
            <a:extLst xmlns:a="http://schemas.openxmlformats.org/drawingml/2006/main">
              <a:ext uri="{FF2B5EF4-FFF2-40B4-BE49-F238E27FC236}">
                <a16:creationId xmlns:a16="http://schemas.microsoft.com/office/drawing/2014/main" id="{DA64DF70-5C6F-4A93-8626-4D6658AD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57650"/>
            <a:ext cx="4762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A5F3FC"/>
            </a:solidFill>
            <a:prstDash val="solid"/>
          </a:ln>
        </p:spPr>
      </p:sp>
      <p:sp>
        <p:nvSpPr>
          <p:cNvPr id="19" name="prep-ar-clean-text">
            <a:extLst xmlns:a="http://schemas.openxmlformats.org/drawingml/2006/main">
              <a:ext uri="{FF2B5EF4-FFF2-40B4-BE49-F238E27FC236}">
                <a16:creationId xmlns:a16="http://schemas.microsoft.com/office/drawing/2014/main" id="{9A157334-4C66-4814-9609-C2F9C49E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2435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47D8C"/>
                </a:solidFill>
              </a:defRPr>
            </a:pPr>
            <a:r>
              <a:rPr sz="1875" b="1">
                <a:solidFill>
                  <a:srgbClr val="147D8C"/>
                </a:solidFill>
              </a:rPr>
              <a:t>الخدمه رائعه</a:t>
            </a:r>
          </a:p>
        </p:txBody>
      </p:sp>
      <p:sp>
        <p:nvSpPr>
          <p:cNvPr id="20" name="prep-ngram">
            <a:extLst xmlns:a="http://schemas.openxmlformats.org/drawingml/2006/main">
              <a:ext uri="{FF2B5EF4-FFF2-40B4-BE49-F238E27FC236}">
                <a16:creationId xmlns:a16="http://schemas.microsoft.com/office/drawing/2014/main" id="{6B4558BC-20DE-4442-AD5C-176F0319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91150"/>
            <a:ext cx="9410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Character n-grams capture subword patterns and spelling variation / تمثيل أجزاء الكلمات من 3 إلى 5 أحرف</a:t>
            </a:r>
          </a:p>
        </p:txBody>
      </p:sp>
      <p:cxnSp>
        <p:nvCxnSpPr>
          <p:cNvPr id="44" name="footer-rule-5"/>
          <p:cNvCxnSpPr/>
          <p:nvPr/>
        </p:nvCxnSpPr>
        <p:spPr>
          <a:xfrm xmlns:a="http://schemas.openxmlformats.org/drawingml/2006/main">
            <a:off x="609600" y="6410325"/>
            <a:ext cx="109728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5E9"/>
            </a:solidFill>
            <a:prstDash val="solid"/>
          </a:ln>
        </p:spPr>
      </p:cxnSp>
      <p:sp>
        <p:nvSpPr>
          <p:cNvPr id="22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815E6CED-0CF9-4F7A-AC3F-9C7D7805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Bilingual Sentiment AI  |  نظام تحليل المشاعر</a:t>
            </a:r>
          </a:p>
        </p:txBody>
      </p:sp>
      <p:sp>
        <p:nvSpPr>
          <p:cNvPr id="23" name="footer-number-5">
            <a:extLst xmlns:a="http://schemas.openxmlformats.org/drawingml/2006/main">
              <a:ext uri="{FF2B5EF4-FFF2-40B4-BE49-F238E27FC236}">
                <a16:creationId xmlns:a16="http://schemas.microsoft.com/office/drawing/2014/main" id="{D33AABAE-8317-41D0-8A0D-DB621E39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160324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itle-en-6">
            <a:extLst xmlns:a="http://schemas.openxmlformats.org/drawingml/2006/main">
              <a:ext uri="{FF2B5EF4-FFF2-40B4-BE49-F238E27FC236}">
                <a16:creationId xmlns:a16="http://schemas.microsoft.com/office/drawing/2014/main" id="{A04E9F08-9A7A-40E1-AD9C-8EB3883D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The experiment is reproducible and language-aware</a:t>
            </a:r>
          </a:p>
        </p:txBody>
      </p:sp>
      <p:sp>
        <p:nvSpPr>
          <p:cNvPr id="2" name="title-kicker-6">
            <a:extLst xmlns:a="http://schemas.openxmlformats.org/drawingml/2006/main">
              <a:ext uri="{FF2B5EF4-FFF2-40B4-BE49-F238E27FC236}">
                <a16:creationId xmlns:a16="http://schemas.microsoft.com/office/drawing/2014/main" id="{1FE2D047-8481-4663-9AD3-DC65DD73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ICRE 2026  •  AI FINAL PROJECT</a:t>
            </a:r>
          </a:p>
        </p:txBody>
      </p:sp>
      <p:sp>
        <p:nvSpPr>
          <p:cNvPr id="3" name="title-ar-6">
            <a:extLst xmlns:a="http://schemas.openxmlformats.org/drawingml/2006/main">
              <a:ext uri="{FF2B5EF4-FFF2-40B4-BE49-F238E27FC236}">
                <a16:creationId xmlns:a16="http://schemas.microsoft.com/office/drawing/2014/main" id="{F062DF08-1740-41E6-BBE4-8A810760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933450"/>
            <a:ext cx="681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D7FF9"/>
                </a:solidFill>
              </a:defRPr>
            </a:pPr>
            <a:r>
              <a:rPr sz="1500" b="1">
                <a:solidFill>
                  <a:srgbClr val="2D7FF9"/>
                </a:solidFill>
              </a:rPr>
              <a:t>التجربة قابلة للتكرار وتحافظ على توزيع اللغة والفئة</a:t>
            </a:r>
          </a:p>
        </p:txBody>
      </p:sp>
      <p:cxnSp>
        <p:nvCxnSpPr>
          <p:cNvPr id="28" name="title-rule-6"/>
          <p:cNvCxnSpPr/>
          <p:nvPr/>
        </p:nvCxnSpPr>
        <p:spPr>
          <a:xfrm xmlns:a="http://schemas.openxmlformats.org/drawingml/2006/main">
            <a:off x="609600" y="1362075"/>
            <a:ext cx="109728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D6"/>
            </a:solidFill>
            <a:prstDash val="solid"/>
          </a:ln>
        </p:spPr>
      </p:cxnSp>
      <p:cxnSp>
        <p:nvCxnSpPr>
          <p:cNvPr id="29" name="experiment-timeline"/>
          <p:cNvCxnSpPr/>
          <p:nvPr/>
        </p:nvCxnSpPr>
        <p:spPr>
          <a:xfrm xmlns:a="http://schemas.openxmlformats.org/drawingml/2006/main">
            <a:off x="876300" y="5276850"/>
            <a:ext cx="104394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827"/>
            </a:solidFill>
            <a:prstDash val="solid"/>
          </a:ln>
        </p:spPr>
      </p:cxnSp>
      <p:sp>
        <p:nvSpPr>
          <p:cNvPr id="6" name="experiment-card-0">
            <a:extLst xmlns:a="http://schemas.openxmlformats.org/drawingml/2006/main">
              <a:ext uri="{FF2B5EF4-FFF2-40B4-BE49-F238E27FC236}">
                <a16:creationId xmlns:a16="http://schemas.microsoft.com/office/drawing/2014/main" id="{75E1B29A-BC9D-4B79-93C4-CEA44BBD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2895600" cy="302895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B7D8FF"/>
            </a:solidFill>
            <a:prstDash val="solid"/>
          </a:ln>
        </p:spPr>
      </p:sp>
      <p:sp>
        <p:nvSpPr>
          <p:cNvPr id="7" name="experiment-head-0">
            <a:extLst xmlns:a="http://schemas.openxmlformats.org/drawingml/2006/main">
              <a:ext uri="{FF2B5EF4-FFF2-40B4-BE49-F238E27FC236}">
                <a16:creationId xmlns:a16="http://schemas.microsoft.com/office/drawing/2014/main" id="{6A137ACD-5BBE-4887-846F-17FB1CAF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5740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7FF9"/>
                </a:solidFill>
              </a:defRPr>
            </a:pPr>
            <a:r>
              <a:rPr sz="1500" b="1">
                <a:solidFill>
                  <a:srgbClr val="2D7FF9"/>
                </a:solidFill>
              </a:rPr>
              <a:t>1  DATA SPLIT</a:t>
            </a:r>
          </a:p>
        </p:txBody>
      </p:sp>
      <p:sp>
        <p:nvSpPr>
          <p:cNvPr id="8" name="experiment-ar-0">
            <a:extLst xmlns:a="http://schemas.openxmlformats.org/drawingml/2006/main">
              <a:ext uri="{FF2B5EF4-FFF2-40B4-BE49-F238E27FC236}">
                <a16:creationId xmlns:a16="http://schemas.microsoft.com/office/drawing/2014/main" id="{9B2E2742-E87C-4268-A3B4-D309B919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9555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تقسيم البيانات</a:t>
            </a:r>
          </a:p>
        </p:txBody>
      </p:sp>
      <p:sp>
        <p:nvSpPr>
          <p:cNvPr id="9" name="experiment-body-0">
            <a:extLst xmlns:a="http://schemas.openxmlformats.org/drawingml/2006/main">
              <a:ext uri="{FF2B5EF4-FFF2-40B4-BE49-F238E27FC236}">
                <a16:creationId xmlns:a16="http://schemas.microsoft.com/office/drawing/2014/main" id="{9B98C08A-1E49-4295-8B52-EA414AF2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28950"/>
            <a:ext cx="2438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80% train / 20% test</a:t>
            </a:r>
          </a:p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5,009 / 1,253 records</a:t>
            </a:r>
          </a:p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Stratified by language + label</a:t>
            </a:r>
          </a:p>
        </p:txBody>
      </p:sp>
      <p:sp>
        <p:nvSpPr>
          <p:cNvPr id="10" name="experiment-dot-0">
            <a:extLst xmlns:a="http://schemas.openxmlformats.org/drawingml/2006/main">
              <a:ext uri="{FF2B5EF4-FFF2-40B4-BE49-F238E27FC236}">
                <a16:creationId xmlns:a16="http://schemas.microsoft.com/office/drawing/2014/main" id="{DA41F389-EB11-4D03-8719-23B32FFE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219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1" name="experiment-card-1">
            <a:extLst xmlns:a="http://schemas.openxmlformats.org/drawingml/2006/main">
              <a:ext uri="{FF2B5EF4-FFF2-40B4-BE49-F238E27FC236}">
                <a16:creationId xmlns:a16="http://schemas.microsoft.com/office/drawing/2014/main" id="{49670112-F4BF-44B1-91B1-6540EF7E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52600"/>
            <a:ext cx="2895600" cy="302895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12" name="experiment-head-1">
            <a:extLst xmlns:a="http://schemas.openxmlformats.org/drawingml/2006/main">
              <a:ext uri="{FF2B5EF4-FFF2-40B4-BE49-F238E27FC236}">
                <a16:creationId xmlns:a16="http://schemas.microsoft.com/office/drawing/2014/main" id="{461BAC62-8BAA-4FDE-BC2C-DEBA2477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5740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7FF9"/>
                </a:solidFill>
              </a:defRPr>
            </a:pPr>
            <a:r>
              <a:rPr sz="1500" b="1">
                <a:solidFill>
                  <a:srgbClr val="2D7FF9"/>
                </a:solidFill>
              </a:rPr>
              <a:t>2  FEATURES</a:t>
            </a:r>
          </a:p>
        </p:txBody>
      </p:sp>
      <p:sp>
        <p:nvSpPr>
          <p:cNvPr id="13" name="experiment-ar-1">
            <a:extLst xmlns:a="http://schemas.openxmlformats.org/drawingml/2006/main">
              <a:ext uri="{FF2B5EF4-FFF2-40B4-BE49-F238E27FC236}">
                <a16:creationId xmlns:a16="http://schemas.microsoft.com/office/drawing/2014/main" id="{E56DAB39-8C27-4D72-BD3A-119B2423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9555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استخراج السمات</a:t>
            </a:r>
          </a:p>
        </p:txBody>
      </p:sp>
      <p:sp>
        <p:nvSpPr>
          <p:cNvPr id="14" name="experiment-body-1">
            <a:extLst xmlns:a="http://schemas.openxmlformats.org/drawingml/2006/main">
              <a:ext uri="{FF2B5EF4-FFF2-40B4-BE49-F238E27FC236}">
                <a16:creationId xmlns:a16="http://schemas.microsoft.com/office/drawing/2014/main" id="{9435C65F-76A3-4FE6-AB27-FC871125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28950"/>
            <a:ext cx="2438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Character TF-IDF</a:t>
            </a:r>
          </a:p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3–5 gram range</a:t>
            </a:r>
          </a:p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20,930 retained features</a:t>
            </a:r>
          </a:p>
        </p:txBody>
      </p:sp>
      <p:sp>
        <p:nvSpPr>
          <p:cNvPr id="15" name="experiment-dot-1">
            <a:extLst xmlns:a="http://schemas.openxmlformats.org/drawingml/2006/main">
              <a:ext uri="{FF2B5EF4-FFF2-40B4-BE49-F238E27FC236}">
                <a16:creationId xmlns:a16="http://schemas.microsoft.com/office/drawing/2014/main" id="{CB67214F-311F-4D91-9C80-397742A3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219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6" name="experiment-card-2">
            <a:extLst xmlns:a="http://schemas.openxmlformats.org/drawingml/2006/main">
              <a:ext uri="{FF2B5EF4-FFF2-40B4-BE49-F238E27FC236}">
                <a16:creationId xmlns:a16="http://schemas.microsoft.com/office/drawing/2014/main" id="{C1A67C5B-21E4-4D66-A851-EB8C6D51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52600"/>
            <a:ext cx="2895600" cy="302895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17" name="experiment-head-2">
            <a:extLst xmlns:a="http://schemas.openxmlformats.org/drawingml/2006/main">
              <a:ext uri="{FF2B5EF4-FFF2-40B4-BE49-F238E27FC236}">
                <a16:creationId xmlns:a16="http://schemas.microsoft.com/office/drawing/2014/main" id="{D12D6B26-E9CF-47A3-B498-12A90D5B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5740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7D8C"/>
                </a:solidFill>
              </a:defRPr>
            </a:pPr>
            <a:r>
              <a:rPr sz="1500" b="1">
                <a:solidFill>
                  <a:srgbClr val="147D8C"/>
                </a:solidFill>
              </a:rPr>
              <a:t>3  MODEL TEST</a:t>
            </a:r>
          </a:p>
        </p:txBody>
      </p:sp>
      <p:sp>
        <p:nvSpPr>
          <p:cNvPr id="18" name="experiment-ar-2">
            <a:extLst xmlns:a="http://schemas.openxmlformats.org/drawingml/2006/main">
              <a:ext uri="{FF2B5EF4-FFF2-40B4-BE49-F238E27FC236}">
                <a16:creationId xmlns:a16="http://schemas.microsoft.com/office/drawing/2014/main" id="{F8B32826-7CD6-4F9F-8F29-ED7ACB0D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9555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مقارنة النماذج</a:t>
            </a:r>
          </a:p>
        </p:txBody>
      </p:sp>
      <p:sp>
        <p:nvSpPr>
          <p:cNvPr id="19" name="experiment-body-2">
            <a:extLst xmlns:a="http://schemas.openxmlformats.org/drawingml/2006/main">
              <a:ext uri="{FF2B5EF4-FFF2-40B4-BE49-F238E27FC236}">
                <a16:creationId xmlns:a16="http://schemas.microsoft.com/office/drawing/2014/main" id="{966C3250-2E13-417A-A827-8464258E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28950"/>
            <a:ext cx="2438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Logistic Regression</a:t>
            </a:r>
          </a:p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Multinomial Naive Bayes</a:t>
            </a:r>
          </a:p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5-fold cross-validation</a:t>
            </a:r>
          </a:p>
        </p:txBody>
      </p:sp>
      <p:sp>
        <p:nvSpPr>
          <p:cNvPr id="20" name="experiment-dot-2">
            <a:extLst xmlns:a="http://schemas.openxmlformats.org/drawingml/2006/main">
              <a:ext uri="{FF2B5EF4-FFF2-40B4-BE49-F238E27FC236}">
                <a16:creationId xmlns:a16="http://schemas.microsoft.com/office/drawing/2014/main" id="{028AC0BF-70D2-44AE-B9B5-A8C82CDB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219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21" name="experiment-seed">
            <a:extLst xmlns:a="http://schemas.openxmlformats.org/drawingml/2006/main">
              <a:ext uri="{FF2B5EF4-FFF2-40B4-BE49-F238E27FC236}">
                <a16:creationId xmlns:a16="http://schemas.microsoft.com/office/drawing/2014/main" id="{F388F4D2-4DA9-4AB1-9D46-0A24C96C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8165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B6472"/>
                </a:solidFill>
              </a:defRPr>
            </a:pPr>
            <a:r>
              <a:rPr sz="1350" b="1">
                <a:solidFill>
                  <a:srgbClr val="5B6472"/>
                </a:solidFill>
              </a:rPr>
              <a:t>Random seed 42  •  نفس النتائج قابلة لإعادة الإنتاج</a:t>
            </a:r>
          </a:p>
        </p:txBody>
      </p:sp>
      <p:cxnSp>
        <p:nvCxnSpPr>
          <p:cNvPr id="46" name="footer-rule-6"/>
          <p:cNvCxnSpPr/>
          <p:nvPr/>
        </p:nvCxnSpPr>
        <p:spPr>
          <a:xfrm xmlns:a="http://schemas.openxmlformats.org/drawingml/2006/main">
            <a:off x="609600" y="6410325"/>
            <a:ext cx="109728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5E9"/>
            </a:solidFill>
            <a:prstDash val="solid"/>
          </a:ln>
        </p:spPr>
      </p:cxnSp>
      <p:sp>
        <p:nvSpPr>
          <p:cNvPr id="23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E6C3607F-682D-4DC7-9574-5DAF66E6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Bilingual Sentiment AI  |  نظام تحليل المشاعر</a:t>
            </a:r>
          </a:p>
        </p:txBody>
      </p:sp>
      <p:sp>
        <p:nvSpPr>
          <p:cNvPr id="24" name="footer-number-6">
            <a:extLst xmlns:a="http://schemas.openxmlformats.org/drawingml/2006/main">
              <a:ext uri="{FF2B5EF4-FFF2-40B4-BE49-F238E27FC236}">
                <a16:creationId xmlns:a16="http://schemas.microsoft.com/office/drawing/2014/main" id="{ADE7D5BD-7A96-4A93-BC53-A0BE922A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930621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en-7">
            <a:extLst xmlns:a="http://schemas.openxmlformats.org/drawingml/2006/main">
              <a:ext uri="{FF2B5EF4-FFF2-40B4-BE49-F238E27FC236}">
                <a16:creationId xmlns:a16="http://schemas.microsoft.com/office/drawing/2014/main" id="{00948C88-29A4-4CDC-9469-62AE0F99A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Logistic Regression wins on macro F1</a:t>
            </a:r>
          </a:p>
        </p:txBody>
      </p:sp>
      <p:sp>
        <p:nvSpPr>
          <p:cNvPr id="2" name="title-kicker-7">
            <a:extLst xmlns:a="http://schemas.openxmlformats.org/drawingml/2006/main">
              <a:ext uri="{FF2B5EF4-FFF2-40B4-BE49-F238E27FC236}">
                <a16:creationId xmlns:a16="http://schemas.microsoft.com/office/drawing/2014/main" id="{F18A0445-A417-4D90-AE1C-2BBF4753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ICRE 2026  •  AI FINAL PROJECT</a:t>
            </a:r>
          </a:p>
        </p:txBody>
      </p:sp>
      <p:sp>
        <p:nvSpPr>
          <p:cNvPr id="3" name="title-ar-7">
            <a:extLst xmlns:a="http://schemas.openxmlformats.org/drawingml/2006/main">
              <a:ext uri="{FF2B5EF4-FFF2-40B4-BE49-F238E27FC236}">
                <a16:creationId xmlns:a16="http://schemas.microsoft.com/office/drawing/2014/main" id="{1F79D40A-95EF-45C5-BEEF-6772CD59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933450"/>
            <a:ext cx="681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D7FF9"/>
                </a:solidFill>
              </a:defRPr>
            </a:pPr>
            <a:r>
              <a:rPr sz="1500" b="1">
                <a:solidFill>
                  <a:srgbClr val="2D7FF9"/>
                </a:solidFill>
              </a:rPr>
              <a:t>الانحدار اللوجستي يحقق أفضل متوسط F1</a:t>
            </a:r>
          </a:p>
        </p:txBody>
      </p:sp>
      <p:cxnSp>
        <p:nvCxnSpPr>
          <p:cNvPr id="21" name="title-rule-7"/>
          <p:cNvCxnSpPr/>
          <p:nvPr/>
        </p:nvCxnSpPr>
        <p:spPr>
          <a:xfrm xmlns:a="http://schemas.openxmlformats.org/drawingml/2006/main">
            <a:off x="609600" y="1362075"/>
            <a:ext cx="109728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D6"/>
            </a:solidFill>
            <a:prstDash val="solid"/>
          </a:ln>
        </p:spPr>
      </p:cxn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1b294b4a9946bf"/>
          <a:stretch xmlns:a="http://schemas.openxmlformats.org/drawingml/2006/main"/>
        </p:blipFill>
        <p:spPr>
          <a:xfrm xmlns:a="http://schemas.openxmlformats.org/drawingml/2006/main">
            <a:off x="628650" y="1683165"/>
            <a:ext cx="7124700" cy="4101270"/>
          </a:xfrm>
          <a:prstGeom xmlns:a="http://schemas.openxmlformats.org/drawingml/2006/main" prst="rect">
            <a:avLst/>
          </a:prstGeom>
        </p:spPr>
      </p:pic>
      <p:sp>
        <p:nvSpPr>
          <p:cNvPr id="6" name="model-callout-1">
            <a:extLst xmlns:a="http://schemas.openxmlformats.org/drawingml/2006/main">
              <a:ext uri="{FF2B5EF4-FFF2-40B4-BE49-F238E27FC236}">
                <a16:creationId xmlns:a16="http://schemas.microsoft.com/office/drawing/2014/main" id="{C30A7633-9B91-4CB7-B72F-F96D60BE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76400"/>
            <a:ext cx="31242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B7D8FF"/>
            </a:solidFill>
            <a:prstDash val="solid"/>
          </a:ln>
        </p:spPr>
      </p:sp>
      <p:sp>
        <p:nvSpPr>
          <p:cNvPr id="7" name="model-callout-1-value">
            <a:extLst xmlns:a="http://schemas.openxmlformats.org/drawingml/2006/main">
              <a:ext uri="{FF2B5EF4-FFF2-40B4-BE49-F238E27FC236}">
                <a16:creationId xmlns:a16="http://schemas.microsoft.com/office/drawing/2014/main" id="{CFC4620D-F8C3-4890-9E56-4617389A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859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D7FF9"/>
                </a:solidFill>
              </a:defRPr>
            </a:pPr>
            <a:r>
              <a:rPr sz="2700" b="1">
                <a:solidFill>
                  <a:srgbClr val="2D7FF9"/>
                </a:solidFill>
              </a:rPr>
              <a:t>74.06%</a:t>
            </a:r>
          </a:p>
        </p:txBody>
      </p:sp>
      <p:sp>
        <p:nvSpPr>
          <p:cNvPr id="8" name="model-callout-1-label">
            <a:extLst xmlns:a="http://schemas.openxmlformats.org/drawingml/2006/main">
              <a:ext uri="{FF2B5EF4-FFF2-40B4-BE49-F238E27FC236}">
                <a16:creationId xmlns:a16="http://schemas.microsoft.com/office/drawing/2014/main" id="{D394B4D0-3E1B-461A-8932-B22540CA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193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Hold-out accuracy / الدقة</a:t>
            </a:r>
          </a:p>
        </p:txBody>
      </p:sp>
      <p:sp>
        <p:nvSpPr>
          <p:cNvPr id="9" name="model-callout-2">
            <a:extLst xmlns:a="http://schemas.openxmlformats.org/drawingml/2006/main">
              <a:ext uri="{FF2B5EF4-FFF2-40B4-BE49-F238E27FC236}">
                <a16:creationId xmlns:a16="http://schemas.microsoft.com/office/drawing/2014/main" id="{AF0030CE-634B-46DB-830A-CB30BFE8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05150"/>
            <a:ext cx="31242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10" name="model-callout-2-value">
            <a:extLst xmlns:a="http://schemas.openxmlformats.org/drawingml/2006/main">
              <a:ext uri="{FF2B5EF4-FFF2-40B4-BE49-F238E27FC236}">
                <a16:creationId xmlns:a16="http://schemas.microsoft.com/office/drawing/2014/main" id="{E167AC34-98A3-4C32-A8D8-4907315C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147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7D8C"/>
                </a:solidFill>
              </a:defRPr>
            </a:pPr>
            <a:r>
              <a:rPr sz="2700" b="1">
                <a:solidFill>
                  <a:srgbClr val="147D8C"/>
                </a:solidFill>
              </a:rPr>
              <a:t>73.53%</a:t>
            </a:r>
          </a:p>
        </p:txBody>
      </p:sp>
      <p:sp>
        <p:nvSpPr>
          <p:cNvPr id="11" name="model-callout-2-label">
            <a:extLst xmlns:a="http://schemas.openxmlformats.org/drawingml/2006/main">
              <a:ext uri="{FF2B5EF4-FFF2-40B4-BE49-F238E27FC236}">
                <a16:creationId xmlns:a16="http://schemas.microsoft.com/office/drawing/2014/main" id="{23900CC9-C72E-4BCC-A7FE-A2CA1F4F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481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Macro F1 / متوسط F1</a:t>
            </a:r>
          </a:p>
        </p:txBody>
      </p:sp>
      <p:sp>
        <p:nvSpPr>
          <p:cNvPr id="12" name="model-callout-3">
            <a:extLst xmlns:a="http://schemas.openxmlformats.org/drawingml/2006/main">
              <a:ext uri="{FF2B5EF4-FFF2-40B4-BE49-F238E27FC236}">
                <a16:creationId xmlns:a16="http://schemas.microsoft.com/office/drawing/2014/main" id="{B58145ED-A31D-48C5-9109-AF4425A7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33900"/>
            <a:ext cx="31242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DE68A"/>
            </a:solidFill>
            <a:prstDash val="solid"/>
          </a:ln>
        </p:spPr>
      </p:sp>
      <p:sp>
        <p:nvSpPr>
          <p:cNvPr id="13" name="model-callout-3-value">
            <a:extLst xmlns:a="http://schemas.openxmlformats.org/drawingml/2006/main">
              <a:ext uri="{FF2B5EF4-FFF2-40B4-BE49-F238E27FC236}">
                <a16:creationId xmlns:a16="http://schemas.microsoft.com/office/drawing/2014/main" id="{1A2DB1F0-0636-4CAC-B2AA-B1D9C0EB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434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73.38%</a:t>
            </a:r>
          </a:p>
        </p:txBody>
      </p:sp>
      <p:sp>
        <p:nvSpPr>
          <p:cNvPr id="14" name="model-callout-3-label">
            <a:extLst xmlns:a="http://schemas.openxmlformats.org/drawingml/2006/main">
              <a:ext uri="{FF2B5EF4-FFF2-40B4-BE49-F238E27FC236}">
                <a16:creationId xmlns:a16="http://schemas.microsoft.com/office/drawing/2014/main" id="{C26EF5E1-6CB9-4B09-BAD9-7AB4B2E6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2387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5-fold CV macro F1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±1.38 percentage points</a:t>
            </a:r>
          </a:p>
        </p:txBody>
      </p:sp>
      <p:cxnSp>
        <p:nvCxnSpPr>
          <p:cNvPr id="32" name="footer-rule-7"/>
          <p:cNvCxnSpPr/>
          <p:nvPr/>
        </p:nvCxnSpPr>
        <p:spPr>
          <a:xfrm xmlns:a="http://schemas.openxmlformats.org/drawingml/2006/main">
            <a:off x="609600" y="6410325"/>
            <a:ext cx="109728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5E9"/>
            </a:solidFill>
            <a:prstDash val="solid"/>
          </a:ln>
        </p:spPr>
      </p:cxnSp>
      <p:sp>
        <p:nvSpPr>
          <p:cNvPr id="16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E13AE28D-D892-4C17-8408-E56A5059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Bilingual Sentiment AI  |  نظام تحليل المشاعر</a:t>
            </a:r>
          </a:p>
        </p:txBody>
      </p:sp>
      <p:sp>
        <p:nvSpPr>
          <p:cNvPr id="17" name="footer-number-7">
            <a:extLst xmlns:a="http://schemas.openxmlformats.org/drawingml/2006/main">
              <a:ext uri="{FF2B5EF4-FFF2-40B4-BE49-F238E27FC236}">
                <a16:creationId xmlns:a16="http://schemas.microsoft.com/office/drawing/2014/main" id="{7BD3F473-6C51-416A-828E-D6E04AAA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94533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en-8">
            <a:extLst xmlns:a="http://schemas.openxmlformats.org/drawingml/2006/main">
              <a:ext uri="{FF2B5EF4-FFF2-40B4-BE49-F238E27FC236}">
                <a16:creationId xmlns:a16="http://schemas.microsoft.com/office/drawing/2014/main" id="{6B69ECF1-12DB-494B-B2AA-4746B38A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English reviews outperform the Arabic lexicon</a:t>
            </a:r>
          </a:p>
        </p:txBody>
      </p:sp>
      <p:sp>
        <p:nvSpPr>
          <p:cNvPr id="2" name="title-kicker-8">
            <a:extLst xmlns:a="http://schemas.openxmlformats.org/drawingml/2006/main">
              <a:ext uri="{FF2B5EF4-FFF2-40B4-BE49-F238E27FC236}">
                <a16:creationId xmlns:a16="http://schemas.microsoft.com/office/drawing/2014/main" id="{6FA9FD5F-6E1B-4384-927D-3EE74892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ICRE 2026  •  AI FINAL PROJECT</a:t>
            </a:r>
          </a:p>
        </p:txBody>
      </p:sp>
      <p:sp>
        <p:nvSpPr>
          <p:cNvPr id="3" name="title-ar-8">
            <a:extLst xmlns:a="http://schemas.openxmlformats.org/drawingml/2006/main">
              <a:ext uri="{FF2B5EF4-FFF2-40B4-BE49-F238E27FC236}">
                <a16:creationId xmlns:a16="http://schemas.microsoft.com/office/drawing/2014/main" id="{5D0FE332-E1C4-44DC-B846-65A4B2E0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933450"/>
            <a:ext cx="681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D7FF9"/>
                </a:solidFill>
              </a:defRPr>
            </a:pPr>
            <a:r>
              <a:rPr sz="1500" b="1">
                <a:solidFill>
                  <a:srgbClr val="2D7FF9"/>
                </a:solidFill>
              </a:rPr>
              <a:t>أداء المراجعات الإنجليزية أعلى من مكوّن المعجم العربي</a:t>
            </a:r>
          </a:p>
        </p:txBody>
      </p:sp>
      <p:cxnSp>
        <p:nvCxnSpPr>
          <p:cNvPr id="17" name="title-rule-8"/>
          <p:cNvCxnSpPr/>
          <p:nvPr/>
        </p:nvCxnSpPr>
        <p:spPr>
          <a:xfrm xmlns:a="http://schemas.openxmlformats.org/drawingml/2006/main">
            <a:off x="609600" y="1362075"/>
            <a:ext cx="109728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D6"/>
            </a:solidFill>
            <a:prstDash val="solid"/>
          </a:ln>
        </p:spPr>
      </p:cxn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5e711eb55e430c"/>
          <a:stretch xmlns:a="http://schemas.openxmlformats.org/drawingml/2006/main"/>
        </p:blipFill>
        <p:spPr>
          <a:xfrm xmlns:a="http://schemas.openxmlformats.org/drawingml/2006/main">
            <a:off x="621904" y="1676400"/>
            <a:ext cx="7214392" cy="4152900"/>
          </a:xfrm>
          <a:prstGeom xmlns:a="http://schemas.openxmlformats.org/drawingml/2006/main" prst="rect">
            <a:avLst/>
          </a:prstGeom>
        </p:spPr>
      </p:pic>
      <p:sp>
        <p:nvSpPr>
          <p:cNvPr id="6" name="lang-en">
            <a:extLst xmlns:a="http://schemas.openxmlformats.org/drawingml/2006/main">
              <a:ext uri="{FF2B5EF4-FFF2-40B4-BE49-F238E27FC236}">
                <a16:creationId xmlns:a16="http://schemas.microsoft.com/office/drawing/2014/main" id="{968E85E9-8B75-4078-9247-9B5E0BCA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28800"/>
            <a:ext cx="2762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D7FF9"/>
                </a:solidFill>
              </a:defRPr>
            </a:pPr>
            <a:r>
              <a:rPr sz="1800" b="1">
                <a:solidFill>
                  <a:srgbClr val="2D7FF9"/>
                </a:solidFill>
              </a:rPr>
              <a:t>ENGLISH</a:t>
            </a:r>
          </a:p>
          <a:p xmlns:a="http://schemas.openxmlformats.org/drawingml/2006/main">
            <a:pPr algn="l">
              <a:defRPr sz="1800" b="1">
                <a:solidFill>
                  <a:srgbClr val="2D7FF9"/>
                </a:solidFill>
              </a:defRPr>
            </a:pPr>
            <a:r>
              <a:rPr sz="1800" b="1">
                <a:solidFill>
                  <a:srgbClr val="2D7FF9"/>
                </a:solidFill>
              </a:rPr>
              <a:t>83.05% accuracy</a:t>
            </a:r>
          </a:p>
          <a:p xmlns:a="http://schemas.openxmlformats.org/drawingml/2006/main">
            <a:pPr algn="l">
              <a:defRPr sz="1800" b="1">
                <a:solidFill>
                  <a:srgbClr val="2D7FF9"/>
                </a:solidFill>
              </a:defRPr>
            </a:pPr>
            <a:r>
              <a:rPr sz="1800" b="1">
                <a:solidFill>
                  <a:srgbClr val="2D7FF9"/>
                </a:solidFill>
              </a:rPr>
              <a:t>83.02% macro F1</a:t>
            </a:r>
          </a:p>
        </p:txBody>
      </p:sp>
      <p:cxnSp>
        <p:nvCxnSpPr>
          <p:cNvPr id="20" name="lang-rule"/>
          <p:cNvCxnSpPr/>
          <p:nvPr/>
        </p:nvCxnSpPr>
        <p:spPr>
          <a:xfrm xmlns:a="http://schemas.openxmlformats.org/drawingml/2006/main">
            <a:off x="8324850" y="3067050"/>
            <a:ext cx="27622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D6"/>
            </a:solidFill>
            <a:prstDash val="solid"/>
          </a:ln>
        </p:spPr>
      </p:cxnSp>
      <p:sp>
        <p:nvSpPr>
          <p:cNvPr id="8" name="lang-ar">
            <a:extLst xmlns:a="http://schemas.openxmlformats.org/drawingml/2006/main">
              <a:ext uri="{FF2B5EF4-FFF2-40B4-BE49-F238E27FC236}">
                <a16:creationId xmlns:a16="http://schemas.microsoft.com/office/drawing/2014/main" id="{EA9FFBDC-B9B4-4888-A320-7FC21D36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71850"/>
            <a:ext cx="276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47D8C"/>
                </a:solidFill>
              </a:defRPr>
            </a:pPr>
            <a:r>
              <a:rPr sz="1800" b="1">
                <a:solidFill>
                  <a:srgbClr val="147D8C"/>
                </a:solidFill>
              </a:rPr>
              <a:t>العربية</a:t>
            </a:r>
          </a:p>
          <a:p xmlns:a="http://schemas.openxmlformats.org/drawingml/2006/main">
            <a:pPr algn="r">
              <a:defRPr sz="1800" b="1">
                <a:solidFill>
                  <a:srgbClr val="147D8C"/>
                </a:solidFill>
              </a:defRPr>
            </a:pPr>
            <a:r>
              <a:rPr sz="1800" b="1">
                <a:solidFill>
                  <a:srgbClr val="147D8C"/>
                </a:solidFill>
              </a:rPr>
              <a:t>65.91% دقة</a:t>
            </a:r>
          </a:p>
          <a:p xmlns:a="http://schemas.openxmlformats.org/drawingml/2006/main">
            <a:pPr algn="r">
              <a:defRPr sz="1800" b="1">
                <a:solidFill>
                  <a:srgbClr val="147D8C"/>
                </a:solidFill>
              </a:defRPr>
            </a:pPr>
            <a:r>
              <a:rPr sz="1800" b="1">
                <a:solidFill>
                  <a:srgbClr val="147D8C"/>
                </a:solidFill>
              </a:rPr>
              <a:t>62.31% متوسط F1</a:t>
            </a:r>
          </a:p>
        </p:txBody>
      </p:sp>
      <p:sp>
        <p:nvSpPr>
          <p:cNvPr id="9" name="lang-insight">
            <a:extLst xmlns:a="http://schemas.openxmlformats.org/drawingml/2006/main">
              <a:ext uri="{FF2B5EF4-FFF2-40B4-BE49-F238E27FC236}">
                <a16:creationId xmlns:a16="http://schemas.microsoft.com/office/drawing/2014/main" id="{5DD4D0D5-6177-4CB4-B881-9D6F9B54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19650"/>
            <a:ext cx="32194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FECACA"/>
            </a:solidFill>
            <a:prstDash val="solid"/>
          </a:ln>
        </p:spPr>
      </p:sp>
      <p:sp>
        <p:nvSpPr>
          <p:cNvPr id="10" name="lang-insight-text">
            <a:extLst xmlns:a="http://schemas.openxmlformats.org/drawingml/2006/main">
              <a:ext uri="{FF2B5EF4-FFF2-40B4-BE49-F238E27FC236}">
                <a16:creationId xmlns:a16="http://schemas.microsoft.com/office/drawing/2014/main" id="{9C08C160-C734-405B-8517-A75FD4A0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029200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C2626"/>
                </a:solidFill>
              </a:defRPr>
            </a:pPr>
            <a:r>
              <a:rPr sz="1275" b="1">
                <a:solidFill>
                  <a:srgbClr val="DC2626"/>
                </a:solidFill>
              </a:rPr>
              <a:t>The gap mainly reflects dataset type and Arabic variation—not a fair review-to-review comparison.</a:t>
            </a:r>
          </a:p>
        </p:txBody>
      </p:sp>
      <p:cxnSp>
        <p:nvCxnSpPr>
          <p:cNvPr id="24" name="footer-rule-8"/>
          <p:cNvCxnSpPr/>
          <p:nvPr/>
        </p:nvCxnSpPr>
        <p:spPr>
          <a:xfrm xmlns:a="http://schemas.openxmlformats.org/drawingml/2006/main">
            <a:off x="609600" y="6410325"/>
            <a:ext cx="109728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5E9"/>
            </a:solidFill>
            <a:prstDash val="solid"/>
          </a:ln>
        </p:spPr>
      </p:cxnSp>
      <p:sp>
        <p:nvSpPr>
          <p:cNvPr id="12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F88BFD72-E81E-4B9C-B230-4816122D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Bilingual Sentiment AI  |  نظام تحليل المشاعر</a:t>
            </a:r>
          </a:p>
        </p:txBody>
      </p:sp>
      <p:sp>
        <p:nvSpPr>
          <p:cNvPr id="13" name="footer-number-8">
            <a:extLst xmlns:a="http://schemas.openxmlformats.org/drawingml/2006/main">
              <a:ext uri="{FF2B5EF4-FFF2-40B4-BE49-F238E27FC236}">
                <a16:creationId xmlns:a16="http://schemas.microsoft.com/office/drawing/2014/main" id="{AD3B6360-58FC-4BBA-A80B-8767AF07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39188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-en-9">
            <a:extLst xmlns:a="http://schemas.openxmlformats.org/drawingml/2006/main">
              <a:ext uri="{FF2B5EF4-FFF2-40B4-BE49-F238E27FC236}">
                <a16:creationId xmlns:a16="http://schemas.microsoft.com/office/drawing/2014/main" id="{A20A4057-3B8D-4C55-A5AE-5F8435E17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325 hold-out errors expose the remaining challenge</a:t>
            </a:r>
          </a:p>
        </p:txBody>
      </p:sp>
      <p:sp>
        <p:nvSpPr>
          <p:cNvPr id="2" name="title-kicker-9">
            <a:extLst xmlns:a="http://schemas.openxmlformats.org/drawingml/2006/main">
              <a:ext uri="{FF2B5EF4-FFF2-40B4-BE49-F238E27FC236}">
                <a16:creationId xmlns:a16="http://schemas.microsoft.com/office/drawing/2014/main" id="{1A1B13F6-7CC7-49EA-AD18-99F692A1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ICRE 2026  •  AI FINAL PROJECT</a:t>
            </a:r>
          </a:p>
        </p:txBody>
      </p:sp>
      <p:sp>
        <p:nvSpPr>
          <p:cNvPr id="3" name="title-ar-9">
            <a:extLst xmlns:a="http://schemas.openxmlformats.org/drawingml/2006/main">
              <a:ext uri="{FF2B5EF4-FFF2-40B4-BE49-F238E27FC236}">
                <a16:creationId xmlns:a16="http://schemas.microsoft.com/office/drawing/2014/main" id="{1BE6B08F-7147-498D-9D7B-5AF32FBF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933450"/>
            <a:ext cx="681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D7FF9"/>
                </a:solidFill>
              </a:defRPr>
            </a:pPr>
            <a:r>
              <a:rPr sz="1500" b="1">
                <a:solidFill>
                  <a:srgbClr val="2D7FF9"/>
                </a:solidFill>
              </a:rPr>
              <a:t>يكشف 325 خطأً في الاختبار عن نقاط التحسين</a:t>
            </a:r>
          </a:p>
        </p:txBody>
      </p:sp>
      <p:cxnSp>
        <p:nvCxnSpPr>
          <p:cNvPr id="20" name="title-rule-9"/>
          <p:cNvCxnSpPr/>
          <p:nvPr/>
        </p:nvCxnSpPr>
        <p:spPr>
          <a:xfrm xmlns:a="http://schemas.openxmlformats.org/drawingml/2006/main">
            <a:off x="609600" y="1362075"/>
            <a:ext cx="109728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D6"/>
            </a:solidFill>
            <a:prstDash val="solid"/>
          </a:ln>
        </p:spPr>
      </p:cxn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f6a7bf6c9148a6"/>
          <a:stretch xmlns:a="http://schemas.openxmlformats.org/drawingml/2006/main"/>
        </p:blipFill>
        <p:spPr>
          <a:xfrm xmlns:a="http://schemas.openxmlformats.org/drawingml/2006/main">
            <a:off x="1025540" y="1638300"/>
            <a:ext cx="4768821" cy="4457700"/>
          </a:xfrm>
          <a:prstGeom xmlns:a="http://schemas.openxmlformats.org/drawingml/2006/main" prst="rect">
            <a:avLst/>
          </a:prstGeom>
        </p:spPr>
      </p:pic>
      <p:sp>
        <p:nvSpPr>
          <p:cNvPr id="6" name="errors-correct">
            <a:extLst xmlns:a="http://schemas.openxmlformats.org/drawingml/2006/main">
              <a:ext uri="{FF2B5EF4-FFF2-40B4-BE49-F238E27FC236}">
                <a16:creationId xmlns:a16="http://schemas.microsoft.com/office/drawing/2014/main" id="{6312F256-0EC3-4A3C-B5CB-5298B88F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0975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A34A"/>
                </a:solidFill>
              </a:defRPr>
            </a:pPr>
            <a:r>
              <a:rPr sz="2175" b="1">
                <a:solidFill>
                  <a:srgbClr val="16A34A"/>
                </a:solidFill>
              </a:rPr>
              <a:t>928 correct predictions</a:t>
            </a:r>
          </a:p>
        </p:txBody>
      </p:sp>
      <p:sp>
        <p:nvSpPr>
          <p:cNvPr id="7" name="errors-correct-ar">
            <a:extLst xmlns:a="http://schemas.openxmlformats.org/drawingml/2006/main">
              <a:ext uri="{FF2B5EF4-FFF2-40B4-BE49-F238E27FC236}">
                <a16:creationId xmlns:a16="http://schemas.microsoft.com/office/drawing/2014/main" id="{B8288FA0-5D40-40A6-B15B-4729039A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B6472"/>
                </a:solidFill>
              </a:defRPr>
            </a:pPr>
            <a:r>
              <a:rPr sz="1500" b="0">
                <a:solidFill>
                  <a:srgbClr val="5B6472"/>
                </a:solidFill>
              </a:rPr>
              <a:t>928 تنبؤاً صحيحاً من أصل 1,253</a:t>
            </a:r>
          </a:p>
        </p:txBody>
      </p:sp>
      <p:cxnSp>
        <p:nvCxnSpPr>
          <p:cNvPr id="24" name="errors-rule-1"/>
          <p:cNvCxnSpPr/>
          <p:nvPr/>
        </p:nvCxnSpPr>
        <p:spPr>
          <a:xfrm xmlns:a="http://schemas.openxmlformats.org/drawingml/2006/main">
            <a:off x="6705600" y="2895600"/>
            <a:ext cx="42862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D6"/>
            </a:solidFill>
            <a:prstDash val="solid"/>
          </a:ln>
        </p:spPr>
      </p:cxnSp>
      <p:sp>
        <p:nvSpPr>
          <p:cNvPr id="9" name="errors-fp">
            <a:extLst xmlns:a="http://schemas.openxmlformats.org/drawingml/2006/main">
              <a:ext uri="{FF2B5EF4-FFF2-40B4-BE49-F238E27FC236}">
                <a16:creationId xmlns:a16="http://schemas.microsoft.com/office/drawing/2014/main" id="{23753D97-B53A-4460-97E8-F7E9F590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813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C2626"/>
                </a:solidFill>
              </a:defRPr>
            </a:pPr>
            <a:r>
              <a:rPr sz="1800" b="1">
                <a:solidFill>
                  <a:srgbClr val="DC2626"/>
                </a:solidFill>
              </a:rPr>
              <a:t>159 false positives</a:t>
            </a:r>
          </a:p>
        </p:txBody>
      </p:sp>
      <p:sp>
        <p:nvSpPr>
          <p:cNvPr id="10" name="errors-fn">
            <a:extLst xmlns:a="http://schemas.openxmlformats.org/drawingml/2006/main">
              <a:ext uri="{FF2B5EF4-FFF2-40B4-BE49-F238E27FC236}">
                <a16:creationId xmlns:a16="http://schemas.microsoft.com/office/drawing/2014/main" id="{1095EDEA-78C3-4E8C-91F8-633E5AF3B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957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C2626"/>
                </a:solidFill>
              </a:defRPr>
            </a:pPr>
            <a:r>
              <a:rPr sz="1800" b="1">
                <a:solidFill>
                  <a:srgbClr val="DC2626"/>
                </a:solidFill>
              </a:rPr>
              <a:t>166 false negatives</a:t>
            </a:r>
          </a:p>
        </p:txBody>
      </p:sp>
      <p:cxnSp>
        <p:nvCxnSpPr>
          <p:cNvPr id="27" name="errors-rule-2"/>
          <p:cNvCxnSpPr/>
          <p:nvPr/>
        </p:nvCxnSpPr>
        <p:spPr>
          <a:xfrm xmlns:a="http://schemas.openxmlformats.org/drawingml/2006/main">
            <a:off x="6705600" y="4267200"/>
            <a:ext cx="42862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D6"/>
            </a:solidFill>
            <a:prstDash val="solid"/>
          </a:ln>
        </p:spPr>
      </p:cxnSp>
      <p:sp>
        <p:nvSpPr>
          <p:cNvPr id="12" name="errors-f1">
            <a:extLst xmlns:a="http://schemas.openxmlformats.org/drawingml/2006/main">
              <a:ext uri="{FF2B5EF4-FFF2-40B4-BE49-F238E27FC236}">
                <a16:creationId xmlns:a16="http://schemas.microsoft.com/office/drawing/2014/main" id="{320004E8-6588-4798-B26E-298B45D0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72000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Negative F1: 77.29%</a:t>
            </a:r>
          </a:p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Positive F1: 69.77%</a:t>
            </a:r>
          </a:p>
        </p:txBody>
      </p:sp>
      <p:sp>
        <p:nvSpPr>
          <p:cNvPr id="13" name="errors-meaning">
            <a:extLst xmlns:a="http://schemas.openxmlformats.org/drawingml/2006/main">
              <a:ext uri="{FF2B5EF4-FFF2-40B4-BE49-F238E27FC236}">
                <a16:creationId xmlns:a16="http://schemas.microsoft.com/office/drawing/2014/main" id="{0CA5BC59-486E-4504-B6B5-DCDB1F4C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46735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7FF9"/>
                </a:solidFill>
              </a:defRPr>
            </a:pPr>
            <a:r>
              <a:rPr sz="1350" b="1">
                <a:solidFill>
                  <a:srgbClr val="2D7FF9"/>
                </a:solidFill>
              </a:rPr>
              <a:t>More balanced Arabic review data should improve positive/negative boundaries.</a:t>
            </a:r>
          </a:p>
        </p:txBody>
      </p:sp>
      <p:cxnSp>
        <p:nvCxnSpPr>
          <p:cNvPr id="30" name="footer-rule-9"/>
          <p:cNvCxnSpPr/>
          <p:nvPr/>
        </p:nvCxnSpPr>
        <p:spPr>
          <a:xfrm xmlns:a="http://schemas.openxmlformats.org/drawingml/2006/main">
            <a:off x="609600" y="6410325"/>
            <a:ext cx="109728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5E9"/>
            </a:solidFill>
            <a:prstDash val="solid"/>
          </a:ln>
        </p:spPr>
      </p:cxnSp>
      <p:sp>
        <p:nvSpPr>
          <p:cNvPr id="15" name="footer-label-9">
            <a:extLst xmlns:a="http://schemas.openxmlformats.org/drawingml/2006/main">
              <a:ext uri="{FF2B5EF4-FFF2-40B4-BE49-F238E27FC236}">
                <a16:creationId xmlns:a16="http://schemas.microsoft.com/office/drawing/2014/main" id="{24059C2C-FECC-474A-A5C7-4AE41E1F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Bilingual Sentiment AI  |  نظام تحليل المشاعر</a:t>
            </a:r>
          </a:p>
        </p:txBody>
      </p:sp>
      <p:sp>
        <p:nvSpPr>
          <p:cNvPr id="16" name="footer-number-9">
            <a:extLst xmlns:a="http://schemas.openxmlformats.org/drawingml/2006/main">
              <a:ext uri="{FF2B5EF4-FFF2-40B4-BE49-F238E27FC236}">
                <a16:creationId xmlns:a16="http://schemas.microsoft.com/office/drawing/2014/main" id="{45173BB5-04F2-4A54-B016-D97679DF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93318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-en-10">
            <a:extLst xmlns:a="http://schemas.openxmlformats.org/drawingml/2006/main">
              <a:ext uri="{FF2B5EF4-FFF2-40B4-BE49-F238E27FC236}">
                <a16:creationId xmlns:a16="http://schemas.microsoft.com/office/drawing/2014/main" id="{4C0B80A1-5A56-4386-BEAD-0EBEF4DA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The interface predicts locally in both languages</a:t>
            </a:r>
          </a:p>
        </p:txBody>
      </p:sp>
      <p:sp>
        <p:nvSpPr>
          <p:cNvPr id="2" name="title-kicker-10">
            <a:extLst xmlns:a="http://schemas.openxmlformats.org/drawingml/2006/main">
              <a:ext uri="{FF2B5EF4-FFF2-40B4-BE49-F238E27FC236}">
                <a16:creationId xmlns:a16="http://schemas.microsoft.com/office/drawing/2014/main" id="{89315B9A-BDC6-4C3C-AF5D-3D356CA5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ICRE 2026  •  AI FINAL PROJECT</a:t>
            </a:r>
          </a:p>
        </p:txBody>
      </p:sp>
      <p:sp>
        <p:nvSpPr>
          <p:cNvPr id="3" name="title-ar-10">
            <a:extLst xmlns:a="http://schemas.openxmlformats.org/drawingml/2006/main">
              <a:ext uri="{FF2B5EF4-FFF2-40B4-BE49-F238E27FC236}">
                <a16:creationId xmlns:a16="http://schemas.microsoft.com/office/drawing/2014/main" id="{586D452F-0716-4A82-8DAA-B0567F79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933450"/>
            <a:ext cx="681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D7FF9"/>
                </a:solidFill>
              </a:defRPr>
            </a:pPr>
            <a:r>
              <a:rPr sz="1500" b="1">
                <a:solidFill>
                  <a:srgbClr val="2D7FF9"/>
                </a:solidFill>
              </a:rPr>
              <a:t>الواجهة تعمل محلياً وتدعم اللغتين</a:t>
            </a:r>
          </a:p>
        </p:txBody>
      </p:sp>
      <p:cxnSp>
        <p:nvCxnSpPr>
          <p:cNvPr id="23" name="title-rule-10"/>
          <p:cNvCxnSpPr/>
          <p:nvPr/>
        </p:nvCxnSpPr>
        <p:spPr>
          <a:xfrm xmlns:a="http://schemas.openxmlformats.org/drawingml/2006/main">
            <a:off x="609600" y="1362075"/>
            <a:ext cx="109728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D6"/>
            </a:solidFill>
            <a:prstDash val="solid"/>
          </a:ln>
        </p:spPr>
      </p:cxnSp>
      <p:sp>
        <p:nvSpPr>
          <p:cNvPr id="5" name="demo-step-1">
            <a:extLst xmlns:a="http://schemas.openxmlformats.org/drawingml/2006/main">
              <a:ext uri="{FF2B5EF4-FFF2-40B4-BE49-F238E27FC236}">
                <a16:creationId xmlns:a16="http://schemas.microsoft.com/office/drawing/2014/main" id="{66004A4A-1FA2-4697-B1A7-788A698C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78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D7FF9"/>
                </a:solidFill>
              </a:defRPr>
            </a:pPr>
            <a:r>
              <a:rPr sz="3150" b="1">
                <a:solidFill>
                  <a:srgbClr val="2D7FF9"/>
                </a:solidFill>
              </a:rPr>
              <a:t>01</a:t>
            </a:r>
          </a:p>
        </p:txBody>
      </p:sp>
      <p:sp>
        <p:nvSpPr>
          <p:cNvPr id="6" name="demo-step-1-text">
            <a:extLst xmlns:a="http://schemas.openxmlformats.org/drawingml/2006/main">
              <a:ext uri="{FF2B5EF4-FFF2-40B4-BE49-F238E27FC236}">
                <a16:creationId xmlns:a16="http://schemas.microsoft.com/office/drawing/2014/main" id="{50EEAA03-63F0-4CE6-ABAF-E08A14CB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8478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Run / تشغيل</a:t>
            </a:r>
          </a:p>
        </p:txBody>
      </p:sp>
      <p:sp>
        <p:nvSpPr>
          <p:cNvPr id="7" name="demo-code">
            <a:extLst xmlns:a="http://schemas.openxmlformats.org/drawingml/2006/main">
              <a:ext uri="{FF2B5EF4-FFF2-40B4-BE49-F238E27FC236}">
                <a16:creationId xmlns:a16="http://schemas.microsoft.com/office/drawing/2014/main" id="{29F08BB2-82C8-4159-A4E7-55F8C787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324100"/>
            <a:ext cx="8763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8" name="demo-code-text">
            <a:extLst xmlns:a="http://schemas.openxmlformats.org/drawingml/2006/main">
              <a:ext uri="{FF2B5EF4-FFF2-40B4-BE49-F238E27FC236}">
                <a16:creationId xmlns:a16="http://schemas.microsoft.com/office/drawing/2014/main" id="{973A2DA4-B845-48A8-8522-D4098E39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62225"/>
            <a:ext cx="822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.\.venv\Scripts\python.exe web_app.py</a:t>
            </a:r>
          </a:p>
        </p:txBody>
      </p:sp>
      <p:sp>
        <p:nvSpPr>
          <p:cNvPr id="9" name="demo-step-2">
            <a:extLst xmlns:a="http://schemas.openxmlformats.org/drawingml/2006/main">
              <a:ext uri="{FF2B5EF4-FFF2-40B4-BE49-F238E27FC236}">
                <a16:creationId xmlns:a16="http://schemas.microsoft.com/office/drawing/2014/main" id="{329F699B-3B66-4778-8606-DCCEFDA8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67100"/>
            <a:ext cx="78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7D8C"/>
                </a:solidFill>
              </a:defRPr>
            </a:pPr>
            <a:r>
              <a:rPr sz="3150" b="1">
                <a:solidFill>
                  <a:srgbClr val="147D8C"/>
                </a:solidFill>
              </a:rPr>
              <a:t>02</a:t>
            </a:r>
          </a:p>
        </p:txBody>
      </p:sp>
      <p:sp>
        <p:nvSpPr>
          <p:cNvPr id="10" name="demo-step-2-text">
            <a:extLst xmlns:a="http://schemas.openxmlformats.org/drawingml/2006/main">
              <a:ext uri="{FF2B5EF4-FFF2-40B4-BE49-F238E27FC236}">
                <a16:creationId xmlns:a16="http://schemas.microsoft.com/office/drawing/2014/main" id="{1DA0BF56-2C7E-4D4D-B02A-995EC17E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5242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Open / افتح    http://127.0.0.1:8000</a:t>
            </a:r>
          </a:p>
        </p:txBody>
      </p:sp>
      <p:sp>
        <p:nvSpPr>
          <p:cNvPr id="11" name="demo-step-3">
            <a:extLst xmlns:a="http://schemas.openxmlformats.org/drawingml/2006/main">
              <a:ext uri="{FF2B5EF4-FFF2-40B4-BE49-F238E27FC236}">
                <a16:creationId xmlns:a16="http://schemas.microsoft.com/office/drawing/2014/main" id="{C4813700-B040-4EF6-BA8E-07C1B47C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00550"/>
            <a:ext cx="78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9E0B"/>
                </a:solidFill>
              </a:defRPr>
            </a:pPr>
            <a:r>
              <a:rPr sz="3150" b="1">
                <a:solidFill>
                  <a:srgbClr val="F59E0B"/>
                </a:solidFill>
              </a:rPr>
              <a:t>03</a:t>
            </a:r>
          </a:p>
        </p:txBody>
      </p:sp>
      <p:sp>
        <p:nvSpPr>
          <p:cNvPr id="12" name="demo-step-3-text">
            <a:extLst xmlns:a="http://schemas.openxmlformats.org/drawingml/2006/main">
              <a:ext uri="{FF2B5EF4-FFF2-40B4-BE49-F238E27FC236}">
                <a16:creationId xmlns:a16="http://schemas.microsoft.com/office/drawing/2014/main" id="{7132883D-FAB6-4F6C-BFC8-5AFF9766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577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Test both languages / جرّب اللغتين</a:t>
            </a:r>
          </a:p>
        </p:txBody>
      </p:sp>
      <p:sp>
        <p:nvSpPr>
          <p:cNvPr id="13" name="demo-example">
            <a:extLst xmlns:a="http://schemas.openxmlformats.org/drawingml/2006/main">
              <a:ext uri="{FF2B5EF4-FFF2-40B4-BE49-F238E27FC236}">
                <a16:creationId xmlns:a16="http://schemas.microsoft.com/office/drawing/2014/main" id="{E44E7086-1B24-4273-8175-09D8F39C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972050"/>
            <a:ext cx="87630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B7D8FF"/>
            </a:solidFill>
            <a:prstDash val="solid"/>
          </a:ln>
        </p:spPr>
      </p:sp>
      <p:sp>
        <p:nvSpPr>
          <p:cNvPr id="14" name="demo-example-en">
            <a:extLst xmlns:a="http://schemas.openxmlformats.org/drawingml/2006/main">
              <a:ext uri="{FF2B5EF4-FFF2-40B4-BE49-F238E27FC236}">
                <a16:creationId xmlns:a16="http://schemas.microsoft.com/office/drawing/2014/main" id="{141D99A7-7C64-4298-8F09-B1F8567B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1816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A34A"/>
                </a:solidFill>
              </a:defRPr>
            </a:pPr>
            <a:r>
              <a:rPr sz="1350" b="1">
                <a:solidFill>
                  <a:srgbClr val="16A34A"/>
                </a:solidFill>
              </a:rPr>
              <a:t>“This product is excellent.”  →  POSITIVE</a:t>
            </a:r>
          </a:p>
        </p:txBody>
      </p:sp>
      <p:sp>
        <p:nvSpPr>
          <p:cNvPr id="15" name="demo-example-ar">
            <a:extLst xmlns:a="http://schemas.openxmlformats.org/drawingml/2006/main">
              <a:ext uri="{FF2B5EF4-FFF2-40B4-BE49-F238E27FC236}">
                <a16:creationId xmlns:a16="http://schemas.microsoft.com/office/drawing/2014/main" id="{8B5CF99A-0F06-43B5-8DC0-68E314B5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81600"/>
            <a:ext cx="398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DC2626"/>
                </a:solidFill>
              </a:defRPr>
            </a:pPr>
            <a:r>
              <a:rPr sz="1500" b="1">
                <a:solidFill>
                  <a:srgbClr val="DC2626"/>
                </a:solidFill>
              </a:rPr>
              <a:t>«الخدمة سيئة وبطيئة»  ←  سلبي</a:t>
            </a:r>
          </a:p>
        </p:txBody>
      </p:sp>
      <p:sp>
        <p:nvSpPr>
          <p:cNvPr id="16" name="demo-neutral">
            <a:extLst xmlns:a="http://schemas.openxmlformats.org/drawingml/2006/main">
              <a:ext uri="{FF2B5EF4-FFF2-40B4-BE49-F238E27FC236}">
                <a16:creationId xmlns:a16="http://schemas.microsoft.com/office/drawing/2014/main" id="{DAC4BEDF-B92D-456A-93B2-A8D7376B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562600"/>
            <a:ext cx="822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6472"/>
                </a:solidFill>
              </a:defRPr>
            </a:pPr>
            <a:r>
              <a:rPr sz="1200" b="1">
                <a:solidFill>
                  <a:srgbClr val="5B6472"/>
                </a:solidFill>
              </a:rPr>
              <a:t>Confidence &lt; 0.60 → neutral / uncertain (not a trained third class)</a:t>
            </a:r>
          </a:p>
        </p:txBody>
      </p:sp>
      <p:cxnSp>
        <p:nvCxnSpPr>
          <p:cNvPr id="36" name="footer-rule-10"/>
          <p:cNvCxnSpPr/>
          <p:nvPr/>
        </p:nvCxnSpPr>
        <p:spPr>
          <a:xfrm xmlns:a="http://schemas.openxmlformats.org/drawingml/2006/main">
            <a:off x="609600" y="6410325"/>
            <a:ext cx="109728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5E9"/>
            </a:solidFill>
            <a:prstDash val="solid"/>
          </a:ln>
        </p:spPr>
      </p:cxnSp>
      <p:sp>
        <p:nvSpPr>
          <p:cNvPr id="18" name="footer-label-10">
            <a:extLst xmlns:a="http://schemas.openxmlformats.org/drawingml/2006/main">
              <a:ext uri="{FF2B5EF4-FFF2-40B4-BE49-F238E27FC236}">
                <a16:creationId xmlns:a16="http://schemas.microsoft.com/office/drawing/2014/main" id="{65745E3B-E190-4620-B120-D151D5D6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Bilingual Sentiment AI  |  نظام تحليل المشاعر</a:t>
            </a:r>
          </a:p>
        </p:txBody>
      </p:sp>
      <p:sp>
        <p:nvSpPr>
          <p:cNvPr id="19" name="footer-number-10">
            <a:extLst xmlns:a="http://schemas.openxmlformats.org/drawingml/2006/main">
              <a:ext uri="{FF2B5EF4-FFF2-40B4-BE49-F238E27FC236}">
                <a16:creationId xmlns:a16="http://schemas.microsoft.com/office/drawing/2014/main" id="{AA4A5534-E59F-4F7C-BCA5-9DC49440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002016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en-11">
            <a:extLst xmlns:a="http://schemas.openxmlformats.org/drawingml/2006/main">
              <a:ext uri="{FF2B5EF4-FFF2-40B4-BE49-F238E27FC236}">
                <a16:creationId xmlns:a16="http://schemas.microsoft.com/office/drawing/2014/main" id="{8CB75724-FEC4-49C3-84E3-58A72FEC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Natural Arabic reviews are the next priority</a:t>
            </a:r>
          </a:p>
        </p:txBody>
      </p:sp>
      <p:sp>
        <p:nvSpPr>
          <p:cNvPr id="2" name="title-kicker-11">
            <a:extLst xmlns:a="http://schemas.openxmlformats.org/drawingml/2006/main">
              <a:ext uri="{FF2B5EF4-FFF2-40B4-BE49-F238E27FC236}">
                <a16:creationId xmlns:a16="http://schemas.microsoft.com/office/drawing/2014/main" id="{876BFA86-1F3E-4C48-91B2-8AA381289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ICRE 2026  •  AI FINAL PROJECT</a:t>
            </a:r>
          </a:p>
        </p:txBody>
      </p:sp>
      <p:sp>
        <p:nvSpPr>
          <p:cNvPr id="3" name="title-ar-11">
            <a:extLst xmlns:a="http://schemas.openxmlformats.org/drawingml/2006/main">
              <a:ext uri="{FF2B5EF4-FFF2-40B4-BE49-F238E27FC236}">
                <a16:creationId xmlns:a16="http://schemas.microsoft.com/office/drawing/2014/main" id="{BC5B9721-530D-43D7-9466-B8D73798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933450"/>
            <a:ext cx="681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D7FF9"/>
                </a:solidFill>
              </a:defRPr>
            </a:pPr>
            <a:r>
              <a:rPr sz="1500" b="1">
                <a:solidFill>
                  <a:srgbClr val="2D7FF9"/>
                </a:solidFill>
              </a:rPr>
              <a:t>المراجعات العربية الطبيعية هي الأولوية القادمة</a:t>
            </a:r>
          </a:p>
        </p:txBody>
      </p:sp>
      <p:cxnSp>
        <p:nvCxnSpPr>
          <p:cNvPr id="19" name="title-rule-11"/>
          <p:cNvCxnSpPr/>
          <p:nvPr/>
        </p:nvCxnSpPr>
        <p:spPr>
          <a:xfrm xmlns:a="http://schemas.openxmlformats.org/drawingml/2006/main">
            <a:off x="609600" y="1362075"/>
            <a:ext cx="109728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D6"/>
            </a:solidFill>
            <a:prstDash val="solid"/>
          </a:ln>
        </p:spPr>
      </p:cxnSp>
      <p:sp>
        <p:nvSpPr>
          <p:cNvPr id="5" name="limits-head">
            <a:extLst xmlns:a="http://schemas.openxmlformats.org/drawingml/2006/main">
              <a:ext uri="{FF2B5EF4-FFF2-40B4-BE49-F238E27FC236}">
                <a16:creationId xmlns:a16="http://schemas.microsoft.com/office/drawing/2014/main" id="{A834246F-1D4D-4991-AED1-A0CBAB98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C2626"/>
                </a:solidFill>
              </a:defRPr>
            </a:pPr>
            <a:r>
              <a:rPr sz="1500" b="1">
                <a:solidFill>
                  <a:srgbClr val="DC2626"/>
                </a:solidFill>
              </a:rPr>
              <a:t>CURRENT LIMITS / القيود الحالية</a:t>
            </a:r>
          </a:p>
        </p:txBody>
      </p:sp>
      <p:sp>
        <p:nvSpPr>
          <p:cNvPr id="6" name="limits-body">
            <a:extLst xmlns:a="http://schemas.openxmlformats.org/drawingml/2006/main">
              <a:ext uri="{FF2B5EF4-FFF2-40B4-BE49-F238E27FC236}">
                <a16:creationId xmlns:a16="http://schemas.microsoft.com/office/drawing/2014/main" id="{3BD03A9D-3C13-4EF1-9B0C-94A9AB71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45720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Arabic data are lexicon terms, not full reviews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Binary training labels only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Mixed English domains: Amazon, IMDb, Yelp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Dialect and morphology remain challenging</a:t>
            </a:r>
          </a:p>
        </p:txBody>
      </p:sp>
      <p:cxnSp>
        <p:nvCxnSpPr>
          <p:cNvPr id="22" name="limits-divider"/>
          <p:cNvCxnSpPr/>
          <p:nvPr/>
        </p:nvCxnSpPr>
        <p:spPr>
          <a:xfrm xmlns:a="http://schemas.openxmlformats.org/drawingml/2006/main">
            <a:off x="6096000" y="1714500"/>
            <a:ext cx="9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D6"/>
            </a:solidFill>
            <a:prstDash val="solid"/>
          </a:ln>
        </p:spPr>
      </p:cxnSp>
      <p:sp>
        <p:nvSpPr>
          <p:cNvPr id="8" name="future-head">
            <a:extLst xmlns:a="http://schemas.openxmlformats.org/drawingml/2006/main">
              <a:ext uri="{FF2B5EF4-FFF2-40B4-BE49-F238E27FC236}">
                <a16:creationId xmlns:a16="http://schemas.microsoft.com/office/drawing/2014/main" id="{A254AB71-E165-4912-83B6-D8EECF59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526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7FF9"/>
                </a:solidFill>
              </a:defRPr>
            </a:pPr>
            <a:r>
              <a:rPr sz="1500" b="1">
                <a:solidFill>
                  <a:srgbClr val="2D7FF9"/>
                </a:solidFill>
              </a:rPr>
              <a:t>NEXT STUDY / الدراسة القادمة</a:t>
            </a:r>
          </a:p>
        </p:txBody>
      </p:sp>
      <p:sp>
        <p:nvSpPr>
          <p:cNvPr id="9" name="future-body">
            <a:extLst xmlns:a="http://schemas.openxmlformats.org/drawingml/2006/main">
              <a:ext uri="{FF2B5EF4-FFF2-40B4-BE49-F238E27FC236}">
                <a16:creationId xmlns:a16="http://schemas.microsoft.com/office/drawing/2014/main" id="{961F91FF-7A78-4CDA-9970-7DC5387C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66950"/>
            <a:ext cx="45720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Collect anonymized Palestinian Arabic reviews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Use manual annotation with clear guidelines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Compare AraBERT or multilingual BERT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Report dialect- and domain-specific errors</a:t>
            </a:r>
          </a:p>
        </p:txBody>
      </p:sp>
      <p:sp>
        <p:nvSpPr>
          <p:cNvPr id="10" name="privacy-band">
            <a:extLst xmlns:a="http://schemas.openxmlformats.org/drawingml/2006/main">
              <a:ext uri="{FF2B5EF4-FFF2-40B4-BE49-F238E27FC236}">
                <a16:creationId xmlns:a16="http://schemas.microsoft.com/office/drawing/2014/main" id="{365A8228-D1E9-475B-B545-A09D2416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105156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A5F3FC"/>
            </a:solidFill>
            <a:prstDash val="solid"/>
          </a:ln>
        </p:spPr>
      </p:sp>
      <p:sp>
        <p:nvSpPr>
          <p:cNvPr id="11" name="privacy-title">
            <a:extLst xmlns:a="http://schemas.openxmlformats.org/drawingml/2006/main">
              <a:ext uri="{FF2B5EF4-FFF2-40B4-BE49-F238E27FC236}">
                <a16:creationId xmlns:a16="http://schemas.microsoft.com/office/drawing/2014/main" id="{4B3DB615-69C2-4A67-A04E-2882F1C4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9650"/>
            <a:ext cx="994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7D8C"/>
                </a:solidFill>
              </a:defRPr>
            </a:pPr>
            <a:r>
              <a:rPr sz="1500" b="1">
                <a:solidFill>
                  <a:srgbClr val="147D8C"/>
                </a:solidFill>
              </a:rPr>
              <a:t>PRIVACY BY DESIGN / الخصوصية</a:t>
            </a:r>
          </a:p>
        </p:txBody>
      </p:sp>
      <p:sp>
        <p:nvSpPr>
          <p:cNvPr id="12" name="privacy-body">
            <a:extLst xmlns:a="http://schemas.openxmlformats.org/drawingml/2006/main">
              <a:ext uri="{FF2B5EF4-FFF2-40B4-BE49-F238E27FC236}">
                <a16:creationId xmlns:a16="http://schemas.microsoft.com/office/drawing/2014/main" id="{F5894422-C8B2-4477-8C27-3973E04A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994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No names or direct identifiers are required; inference runs locally, and any future dataset should be anonymized before annotation.</a:t>
            </a:r>
          </a:p>
        </p:txBody>
      </p:sp>
      <p:cxnSp>
        <p:nvCxnSpPr>
          <p:cNvPr id="28" name="footer-rule-11"/>
          <p:cNvCxnSpPr/>
          <p:nvPr/>
        </p:nvCxnSpPr>
        <p:spPr>
          <a:xfrm xmlns:a="http://schemas.openxmlformats.org/drawingml/2006/main">
            <a:off x="609600" y="6410325"/>
            <a:ext cx="109728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5E9"/>
            </a:solidFill>
            <a:prstDash val="solid"/>
          </a:ln>
        </p:spPr>
      </p:cxnSp>
      <p:sp>
        <p:nvSpPr>
          <p:cNvPr id="14" name="footer-label-11">
            <a:extLst xmlns:a="http://schemas.openxmlformats.org/drawingml/2006/main">
              <a:ext uri="{FF2B5EF4-FFF2-40B4-BE49-F238E27FC236}">
                <a16:creationId xmlns:a16="http://schemas.microsoft.com/office/drawing/2014/main" id="{318FAB86-8568-437F-A0BD-F892C095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Bilingual Sentiment AI  |  نظام تحليل المشاعر</a:t>
            </a:r>
          </a:p>
        </p:txBody>
      </p:sp>
      <p:sp>
        <p:nvSpPr>
          <p:cNvPr id="15" name="footer-number-11">
            <a:extLst xmlns:a="http://schemas.openxmlformats.org/drawingml/2006/main">
              <a:ext uri="{FF2B5EF4-FFF2-40B4-BE49-F238E27FC236}">
                <a16:creationId xmlns:a16="http://schemas.microsoft.com/office/drawing/2014/main" id="{25008F6A-67F6-4EF3-8BA4-CE9246B1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587978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A3E00837-69CD-4757-92BA-14F527E9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7FF9"/>
                </a:solidFill>
              </a:defRPr>
            </a:pPr>
            <a:r>
              <a:rPr sz="1350" b="1">
                <a:solidFill>
                  <a:srgbClr val="2D7FF9"/>
                </a:solidFill>
              </a:rPr>
              <a:t>CONCLUSION  •  الخلاصة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31C036CD-F4F5-4DCD-BA53-69325FF1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85725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111827"/>
                </a:solidFill>
              </a:defRPr>
            </a:pPr>
            <a:r>
              <a:rPr sz="4125" b="1">
                <a:solidFill>
                  <a:srgbClr val="111827"/>
                </a:solidFill>
              </a:rPr>
              <a:t>A working bilingual baseline,</a:t>
            </a:r>
          </a:p>
          <a:p xmlns:a="http://schemas.openxmlformats.org/drawingml/2006/main">
            <a:pPr algn="l">
              <a:defRPr sz="4125" b="1">
                <a:solidFill>
                  <a:srgbClr val="111827"/>
                </a:solidFill>
              </a:defRPr>
            </a:pPr>
            <a:r>
              <a:rPr sz="4125" b="1">
                <a:solidFill>
                  <a:srgbClr val="111827"/>
                </a:solidFill>
              </a:rPr>
              <a:t>measured honestly</a:t>
            </a:r>
          </a:p>
        </p:txBody>
      </p:sp>
      <p:sp>
        <p:nvSpPr>
          <p:cNvPr id="3" name="close-ar">
            <a:extLst xmlns:a="http://schemas.openxmlformats.org/drawingml/2006/main">
              <a:ext uri="{FF2B5EF4-FFF2-40B4-BE49-F238E27FC236}">
                <a16:creationId xmlns:a16="http://schemas.microsoft.com/office/drawing/2014/main" id="{DB277704-093E-453E-AB08-975CA0C8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47D8C"/>
                </a:solidFill>
              </a:defRPr>
            </a:pPr>
            <a:r>
              <a:rPr sz="2250" b="1">
                <a:solidFill>
                  <a:srgbClr val="147D8C"/>
                </a:solidFill>
              </a:rPr>
              <a:t>نظام ثنائي اللغة يعمل فعلياً</a:t>
            </a:r>
          </a:p>
          <a:p xmlns:a="http://schemas.openxmlformats.org/drawingml/2006/main">
            <a:pPr algn="r">
              <a:defRPr sz="2250" b="1">
                <a:solidFill>
                  <a:srgbClr val="147D8C"/>
                </a:solidFill>
              </a:defRPr>
            </a:pPr>
            <a:r>
              <a:rPr sz="2250" b="1">
                <a:solidFill>
                  <a:srgbClr val="147D8C"/>
                </a:solidFill>
              </a:rPr>
              <a:t>ونتائجه موثقة بأمانة</a:t>
            </a:r>
          </a:p>
        </p:txBody>
      </p:sp>
      <p:cxnSp>
        <p:nvCxnSpPr>
          <p:cNvPr id="11" name="close-rule"/>
          <p:cNvCxnSpPr/>
          <p:nvPr/>
        </p:nvCxnSpPr>
        <p:spPr>
          <a:xfrm xmlns:a="http://schemas.openxmlformats.org/drawingml/2006/main">
            <a:off x="609600" y="4495800"/>
            <a:ext cx="102870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D6"/>
            </a:solidFill>
            <a:prstDash val="solid"/>
          </a:ln>
        </p:spPr>
      </p:cxnSp>
      <p:sp>
        <p:nvSpPr>
          <p:cNvPr id="5" name="close-metrics">
            <a:extLst xmlns:a="http://schemas.openxmlformats.org/drawingml/2006/main">
              <a:ext uri="{FF2B5EF4-FFF2-40B4-BE49-F238E27FC236}">
                <a16:creationId xmlns:a16="http://schemas.microsoft.com/office/drawing/2014/main" id="{75CD030F-A05E-4156-8513-884C7DC5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74.06% overall accuracy   •   83.05% English   •   65.91% Arabic component</a:t>
            </a:r>
          </a:p>
        </p:txBody>
      </p:sp>
      <p:sp>
        <p:nvSpPr>
          <p:cNvPr id="6" name="close-next">
            <a:extLst xmlns:a="http://schemas.openxmlformats.org/drawingml/2006/main">
              <a:ext uri="{FF2B5EF4-FFF2-40B4-BE49-F238E27FC236}">
                <a16:creationId xmlns:a16="http://schemas.microsoft.com/office/drawing/2014/main" id="{49B0C738-0C5D-4044-9682-D24B43C2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D7FF9"/>
                </a:solidFill>
              </a:defRPr>
            </a:pPr>
            <a:r>
              <a:rPr sz="1425" b="1">
                <a:solidFill>
                  <a:srgbClr val="2D7FF9"/>
                </a:solidFill>
              </a:rPr>
              <a:t>Next: annotated Palestinian Arabic reviews  |  الخطوة التالية: بيانات عربية فلسطينية معلّمة</a:t>
            </a:r>
          </a:p>
        </p:txBody>
      </p:sp>
      <p:sp>
        <p:nvSpPr>
          <p:cNvPr id="7" name="close-qa">
            <a:extLst xmlns:a="http://schemas.openxmlformats.org/drawingml/2006/main">
              <a:ext uri="{FF2B5EF4-FFF2-40B4-BE49-F238E27FC236}">
                <a16:creationId xmlns:a16="http://schemas.microsoft.com/office/drawing/2014/main" id="{DA902CD3-DEF6-41D3-B0E1-D25355C1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1531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5B6472"/>
                </a:solidFill>
              </a:defRPr>
            </a:pPr>
            <a:r>
              <a:rPr sz="1725" b="1">
                <a:solidFill>
                  <a:srgbClr val="5B6472"/>
                </a:solidFill>
              </a:rPr>
              <a:t>Questions?  •  أسئلة؟</a:t>
            </a:r>
          </a:p>
        </p:txBody>
      </p:sp>
    </p:spTree>
    <p:extLst>
      <p:ext uri="{BB962C8B-B14F-4D97-AF65-F5344CB8AC3E}">
        <p14:creationId xmlns:p14="http://schemas.microsoft.com/office/powerpoint/2010/main" val="12504508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2026-08-14T11:58:30.8950000Z</dcterms:created>
  <dcterms:modified xsi:type="dcterms:W3CDTF">2026-08-14T11:58:30.8950000Z</dcterms:modified>
</coreProperties>
</file>